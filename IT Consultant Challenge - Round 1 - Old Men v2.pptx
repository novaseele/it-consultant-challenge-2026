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8895" y="868680"/>
            <a:ext cx="1143000" cy="73152"/>
          </a:xfrm>
          <a:prstGeom prst="rect">
            <a:avLst/>
          </a:prstGeom>
          <a:solidFill>
            <a:srgbClr val="F0A3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8895" y="1188720"/>
            <a:ext cx="1585020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F0A35E"/>
                </a:solidFill>
                <a:latin typeface="IBM Plex Sans"/>
              </a:rPr>
              <a:t>IT CONSULTANT CHALLENGE 2026 · ROUND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8895" y="1691640"/>
            <a:ext cx="1463040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0" b="1" i="0">
                <a:solidFill>
                  <a:srgbClr val="FFFFFF"/>
                </a:solidFill>
                <a:latin typeface="Georgia"/>
              </a:rPr>
              <a:t>Keeping the delivery promise across three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8895" y="3611880"/>
            <a:ext cx="137160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 i="0">
                <a:solidFill>
                  <a:srgbClr val="C9D1E3"/>
                </a:solidFill>
                <a:latin typeface="IBM Plex Sans"/>
              </a:rPr>
              <a:t>A fulfilment control layer on top of Company A’s existing systems in Denmark, Norway and Sweden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8895" y="4526280"/>
            <a:ext cx="15850209" cy="3520440"/>
          </a:xfrm>
          <a:prstGeom prst="roundRect">
            <a:avLst>
              <a:gd name="adj" fmla="val 4675"/>
            </a:avLst>
          </a:prstGeom>
          <a:solidFill>
            <a:srgbClr val="2232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84655" y="4754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F0A35E"/>
                </a:solidFill>
                <a:latin typeface="IBM Plex Sans"/>
              </a:rPr>
              <a:t>THE ANSWER ON ONE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4655" y="521208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F0A35E"/>
                </a:solidFill>
                <a:latin typeface="IBM Plex Sans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9135" y="5212080"/>
            <a:ext cx="13472769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IBM Plex Sans"/>
              </a:rPr>
              <a:t>Order, stock, supplier and transport data sit in separate systems, so a late or incomplete delivery is usually discovered only when the truck arrives.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4655" y="589788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F0A35E"/>
                </a:solidFill>
                <a:latin typeface="IBM Plex Sans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9135" y="5897880"/>
            <a:ext cx="13472769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IBM Plex Sans"/>
              </a:rPr>
              <a:t>One shared layer reads those systems, joins every order into one timeline, flags orders at risk and alerts staff and customers early. No existing system is replaced.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4655" y="658368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F0A35E"/>
                </a:solidFill>
                <a:latin typeface="IBM Plex Sans"/>
              </a:rPr>
              <a:t>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9135" y="6583680"/>
            <a:ext cx="13472769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IBM Plex Sans"/>
              </a:rPr>
              <a:t>Sweden, 20 pilot stores, 12 weeks, read-only. Then Denmark and Norway with their own adapters.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4655" y="726948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F0A35E"/>
                </a:solidFill>
                <a:latin typeface="IBM Plex Sans"/>
              </a:rPr>
              <a:t>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9135" y="7269480"/>
            <a:ext cx="13472769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IBM Plex Sans"/>
              </a:rPr>
              <a:t>About EUR 135k a year in the pilot and about EUR 2M a year at group scale; payback within 6 months of full rollout (assumed figures, see slide 10).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8895" y="8275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IBM Plex Sans"/>
              </a:rPr>
              <a:t>Team Old Men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8895" y="8686800"/>
            <a:ext cx="12801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C9D1E3"/>
                </a:solidFill>
                <a:latin typeface="IBM Plex Sans"/>
              </a:rPr>
              <a:t>Nguyễn Việt Anh   ·   Vũ Văn Hậu   ·   Nguyễn Hoàng Anh Dũng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11504" y="8686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C9D1E3"/>
                </a:solidFill>
                <a:latin typeface="IBM Plex Sans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8895" y="713232"/>
            <a:ext cx="1585020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B8520F"/>
                </a:solidFill>
                <a:latin typeface="IBM Plex Sans"/>
              </a:rPr>
              <a:t>THE REAL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8895" y="1097280"/>
            <a:ext cx="15850209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14213D"/>
                </a:solidFill>
                <a:latin typeface="Georgia"/>
              </a:rPr>
              <a:t>All four challenges end in one place: the delivery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8895" y="2514600"/>
            <a:ext cx="2697480" cy="2331720"/>
          </a:xfrm>
          <a:prstGeom prst="roundRect">
            <a:avLst>
              <a:gd name="adj" fmla="val 7058"/>
            </a:avLst>
          </a:prstGeom>
          <a:solidFill>
            <a:srgbClr val="ECE9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7495" y="26974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B8520F"/>
                </a:solidFill>
                <a:latin typeface="IBM Plex Sans"/>
              </a:rPr>
              <a:t>ROOT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495" y="301752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IBM Plex Sans"/>
              </a:rPr>
              <a:t>Fragmented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495" y="379476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555E72"/>
                </a:solidFill>
                <a:latin typeface="IBM Plex Sans"/>
              </a:rPr>
              <a:t>Order, stock, supplier and transport data live in different systems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07815" y="3520440"/>
            <a:ext cx="411480" cy="329184"/>
          </a:xfrm>
          <a:prstGeom prst="rightArrow">
            <a:avLst/>
          </a:prstGeom>
          <a:solidFill>
            <a:srgbClr val="B852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10735" y="2514600"/>
            <a:ext cx="2697480" cy="2331720"/>
          </a:xfrm>
          <a:prstGeom prst="roundRect">
            <a:avLst>
              <a:gd name="adj" fmla="val 7058"/>
            </a:avLst>
          </a:prstGeom>
          <a:solidFill>
            <a:srgbClr val="ECE9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9335" y="26974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B8520F"/>
                </a:solidFill>
                <a:latin typeface="IBM Plex Sans"/>
              </a:rPr>
              <a:t>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9335" y="301752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IBM Plex Sans"/>
              </a:rPr>
              <a:t>No one sees the whole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9335" y="379476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555E72"/>
                </a:solidFill>
                <a:latin typeface="IBM Plex Sans"/>
              </a:rPr>
              <a:t>No single system can tell whether every part will be ready on time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299655" y="3520440"/>
            <a:ext cx="411480" cy="329184"/>
          </a:xfrm>
          <a:prstGeom prst="rightArrow">
            <a:avLst/>
          </a:prstGeom>
          <a:solidFill>
            <a:srgbClr val="B852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02575" y="2514600"/>
            <a:ext cx="2697480" cy="2331720"/>
          </a:xfrm>
          <a:prstGeom prst="roundRect">
            <a:avLst>
              <a:gd name="adj" fmla="val 7058"/>
            </a:avLst>
          </a:prstGeom>
          <a:solidFill>
            <a:srgbClr val="ECE9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1175" y="26974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B8520F"/>
                </a:solidFill>
                <a:latin typeface="IBM Plex Sans"/>
              </a:rPr>
              <a:t>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1175" y="301752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IBM Plex Sans"/>
              </a:rPr>
              <a:t>Manual chasing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1175" y="379476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555E72"/>
                </a:solidFill>
                <a:latin typeface="IBM Plex Sans"/>
              </a:rPr>
              <a:t>Staff check several systems and phone colleagues and carriers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591495" y="3520440"/>
            <a:ext cx="411480" cy="329184"/>
          </a:xfrm>
          <a:prstGeom prst="rightArrow">
            <a:avLst/>
          </a:prstGeom>
          <a:solidFill>
            <a:srgbClr val="B852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094415" y="2514600"/>
            <a:ext cx="2697480" cy="2331720"/>
          </a:xfrm>
          <a:prstGeom prst="roundRect">
            <a:avLst>
              <a:gd name="adj" fmla="val 7058"/>
            </a:avLst>
          </a:prstGeom>
          <a:solidFill>
            <a:srgbClr val="ECE9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23015" y="26974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B8520F"/>
                </a:solidFill>
                <a:latin typeface="IBM Plex Sans"/>
              </a:rPr>
              <a:t>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23015" y="301752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IBM Plex Sans"/>
              </a:rPr>
              <a:t>Inconsistent handling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23015" y="379476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555E72"/>
                </a:solidFill>
                <a:latin typeface="IBM Plex Sans"/>
              </a:rPr>
              <a:t>Each store deals with late orders in its own way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3883335" y="3520440"/>
            <a:ext cx="411480" cy="329184"/>
          </a:xfrm>
          <a:prstGeom prst="rightArrow">
            <a:avLst/>
          </a:prstGeom>
          <a:solidFill>
            <a:srgbClr val="B852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4386255" y="2514600"/>
            <a:ext cx="2697480" cy="2331720"/>
          </a:xfrm>
          <a:prstGeom prst="roundRect">
            <a:avLst>
              <a:gd name="adj" fmla="val 7058"/>
            </a:avLst>
          </a:prstGeom>
          <a:solidFill>
            <a:srgbClr val="1421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14855" y="26974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0A35E"/>
                </a:solidFill>
                <a:latin typeface="IBM Plex Sans"/>
              </a:rPr>
              <a:t>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14855" y="301752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IBM Plex Sans"/>
              </a:rPr>
              <a:t>Broken delivery promise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14855" y="379476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C9D1E3"/>
                </a:solidFill>
                <a:latin typeface="IBM Plex Sans"/>
              </a:rPr>
              <a:t>Late or incomplete delivery; the customer finds out first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18895" y="5074920"/>
            <a:ext cx="15850209" cy="731520"/>
          </a:xfrm>
          <a:prstGeom prst="roundRect">
            <a:avLst>
              <a:gd name="adj" fmla="val 22499"/>
            </a:avLst>
          </a:prstGeom>
          <a:solidFill>
            <a:srgbClr val="F6E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93215" y="5074920"/>
            <a:ext cx="15301569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IBM Plex Sans"/>
              </a:rPr>
              <a:t>Fulfilment is where all four challenges meet, and the only one the customer feels directly. </a:t>
            </a:r>
            <a:r>
              <a:rPr sz="1700" b="0" i="0">
                <a:solidFill>
                  <a:srgbClr val="14213D"/>
                </a:solidFill>
                <a:latin typeface="IBM Plex Sans"/>
              </a:rPr>
              <a:t>Making every order visible across systems breaks the chain without replacing them.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8895" y="6080760"/>
            <a:ext cx="1585020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B8520F"/>
                </a:solidFill>
                <a:latin typeface="IBM Plex Sans"/>
              </a:rPr>
              <a:t>WHO IS HURT AND HOW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18895" y="6492240"/>
            <a:ext cx="4978603" cy="54864"/>
          </a:xfrm>
          <a:prstGeom prst="rect">
            <a:avLst/>
          </a:prstGeom>
          <a:solidFill>
            <a:srgbClr val="B852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18895" y="6675120"/>
            <a:ext cx="4978603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IBM Plex Sans"/>
              </a:rPr>
              <a:t>Construction customers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8895" y="7178040"/>
            <a:ext cx="4978603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555E72"/>
                </a:solidFill>
                <a:latin typeface="IBM Plex Sans"/>
              </a:rPr>
              <a:t>A crew of four waiting for a missing delivery loses about EUR 1,500 in a day (assumed). This is what makes professional customers switch to a competitor.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54698" y="6492240"/>
            <a:ext cx="4978603" cy="54864"/>
          </a:xfrm>
          <a:prstGeom prst="rect">
            <a:avLst/>
          </a:prstGeom>
          <a:solidFill>
            <a:srgbClr val="B852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4698" y="6675120"/>
            <a:ext cx="4978603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IBM Plex Sans"/>
              </a:rPr>
              <a:t>Store and distribution staff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4698" y="7178040"/>
            <a:ext cx="4978603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555E72"/>
                </a:solidFill>
                <a:latin typeface="IBM Plex Sans"/>
              </a:rPr>
              <a:t>Every “where is my order?” call means searching several systems. Problems are found when it is too late to fix them.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90501" y="6492240"/>
            <a:ext cx="4978603" cy="54864"/>
          </a:xfrm>
          <a:prstGeom prst="rect">
            <a:avLst/>
          </a:prstGeom>
          <a:solidFill>
            <a:srgbClr val="B852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090501" y="6675120"/>
            <a:ext cx="4978603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IBM Plex Sans"/>
              </a:rPr>
              <a:t>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090501" y="7178040"/>
            <a:ext cx="4978603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555E72"/>
                </a:solidFill>
                <a:latin typeface="IBM Plex Sans"/>
              </a:rPr>
              <a:t>No shared view of delivery performance across stores and countries, so what works in one market cannot be repeated in the others.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8895" y="9555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55E72"/>
                </a:solidFill>
                <a:latin typeface="IBM Plex Sans"/>
              </a:rPr>
              <a:t>Team Old Men · Company A · Round 1 proposal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154704" y="95554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55E72"/>
                </a:solidFill>
                <a:latin typeface="IBM Plex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8895" y="713232"/>
            <a:ext cx="1585020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B8520F"/>
                </a:solidFill>
                <a:latin typeface="IBM Plex Sans"/>
              </a:rPr>
              <a:t>WHERE TO FOCUS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8895" y="1097280"/>
            <a:ext cx="15850209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14213D"/>
                </a:solidFill>
                <a:latin typeface="Georgia"/>
              </a:rPr>
              <a:t>Fulfilment scores highest on impact and on speed to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18895" y="2377440"/>
          <a:ext cx="15850205" cy="35387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84725"/>
                <a:gridCol w="1600509"/>
                <a:gridCol w="1600509"/>
                <a:gridCol w="1807027"/>
                <a:gridCol w="1807027"/>
                <a:gridCol w="980957"/>
                <a:gridCol w="5369451"/>
              </a:tblGrid>
              <a:tr h="6858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Challenge</a:t>
                      </a:r>
                    </a:p>
                  </a:txBody>
                  <a:tcPr marL="109728" marR="109728" marT="64008" marB="64008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Business impact</a:t>
                      </a:r>
                    </a:p>
                  </a:txBody>
                  <a:tcPr marL="109728" marR="109728" marT="64008" marB="64008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Felt by customers</a:t>
                      </a:r>
                    </a:p>
                  </a:txBody>
                  <a:tcPr marL="109728" marR="109728" marT="64008" marB="64008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Results within ~3 months</a:t>
                      </a:r>
                    </a:p>
                  </a:txBody>
                  <a:tcPr marL="109728" marR="109728" marT="64008" marB="64008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Helps the other challenges</a:t>
                      </a:r>
                    </a:p>
                  </a:txBody>
                  <a:tcPr marL="109728" marR="109728" marT="64008" marB="64008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Score</a:t>
                      </a:r>
                    </a:p>
                  </a:txBody>
                  <a:tcPr marL="109728" marR="109728" marT="64008" marB="64008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Our verdict</a:t>
                      </a:r>
                    </a:p>
                  </a:txBody>
                  <a:tcPr marL="109728" marR="109728" marT="64008" marB="64008" anchor="ctr">
                    <a:solidFill>
                      <a:srgbClr val="14213D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14213D"/>
                          </a:solidFill>
                          <a:latin typeface="IBM Plex Sans"/>
                        </a:rPr>
                        <a:t>Fragmented systems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B8520F"/>
                          </a:solidFill>
                          <a:latin typeface="Arial"/>
                        </a:rPr>
                        <a:t>●●●</a:t>
                      </a:r>
                      <a:r>
                        <a:rPr sz="1600" b="0">
                          <a:solidFill>
                            <a:srgbClr val="C8C3B8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B8520F"/>
                          </a:solidFill>
                          <a:latin typeface="Arial"/>
                        </a:rPr>
                        <a:t>●</a:t>
                      </a:r>
                      <a:r>
                        <a:rPr sz="1600" b="0">
                          <a:solidFill>
                            <a:srgbClr val="C8C3B8"/>
                          </a:solidFill>
                          <a:latin typeface="Arial"/>
                        </a:rPr>
                        <a:t>○○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B8520F"/>
                          </a:solidFill>
                          <a:latin typeface="Arial"/>
                        </a:rPr>
                        <a:t>●</a:t>
                      </a:r>
                      <a:r>
                        <a:rPr sz="1600" b="0">
                          <a:solidFill>
                            <a:srgbClr val="C8C3B8"/>
                          </a:solidFill>
                          <a:latin typeface="Arial"/>
                        </a:rPr>
                        <a:t>○○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B8520F"/>
                          </a:solidFill>
                          <a:latin typeface="Arial"/>
                        </a:rPr>
                        <a:t>●●●</a:t>
                      </a:r>
                      <a:r>
                        <a:rPr sz="1600" b="0">
                          <a:solidFill>
                            <a:srgbClr val="C8C3B8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8 / 12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Root cause, but replacing systems takes years. Our layer starts reducing it.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14213D"/>
                          </a:solidFill>
                          <a:latin typeface="IBM Plex Sans"/>
                        </a:rPr>
                        <a:t>Manual processes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B8520F"/>
                          </a:solidFill>
                          <a:latin typeface="Arial"/>
                        </a:rPr>
                        <a:t>●●●</a:t>
                      </a:r>
                      <a:r>
                        <a:rPr sz="1600" b="0">
                          <a:solidFill>
                            <a:srgbClr val="C8C3B8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B8520F"/>
                          </a:solidFill>
                          <a:latin typeface="Arial"/>
                        </a:rPr>
                        <a:t>●</a:t>
                      </a:r>
                      <a:r>
                        <a:rPr sz="1600" b="0">
                          <a:solidFill>
                            <a:srgbClr val="C8C3B8"/>
                          </a:solidFill>
                          <a:latin typeface="Arial"/>
                        </a:rPr>
                        <a:t>○○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B8520F"/>
                          </a:solidFill>
                          <a:latin typeface="Arial"/>
                        </a:rPr>
                        <a:t>●●</a:t>
                      </a:r>
                      <a:r>
                        <a:rPr sz="1600" b="0">
                          <a:solidFill>
                            <a:srgbClr val="C8C3B8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B8520F"/>
                          </a:solidFill>
                          <a:latin typeface="Arial"/>
                        </a:rPr>
                        <a:t>●●</a:t>
                      </a:r>
                      <a:r>
                        <a:rPr sz="1600" b="0">
                          <a:solidFill>
                            <a:srgbClr val="C8C3B8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8 / 12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Big internal cost, but different in each country. Our layer removes the status chasing.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14213D"/>
                          </a:solidFill>
                          <a:latin typeface="IBM Plex Sans"/>
                        </a:rPr>
                        <a:t>Inconsistent operations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B8520F"/>
                          </a:solidFill>
                          <a:latin typeface="Arial"/>
                        </a:rPr>
                        <a:t>●●</a:t>
                      </a:r>
                      <a:r>
                        <a:rPr sz="1600" b="0">
                          <a:solidFill>
                            <a:srgbClr val="C8C3B8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B8520F"/>
                          </a:solidFill>
                          <a:latin typeface="Arial"/>
                        </a:rPr>
                        <a:t>●●</a:t>
                      </a:r>
                      <a:r>
                        <a:rPr sz="1600" b="0">
                          <a:solidFill>
                            <a:srgbClr val="C8C3B8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B8520F"/>
                          </a:solidFill>
                          <a:latin typeface="Arial"/>
                        </a:rPr>
                        <a:t>●</a:t>
                      </a:r>
                      <a:r>
                        <a:rPr sz="1600" b="0">
                          <a:solidFill>
                            <a:srgbClr val="C8C3B8"/>
                          </a:solidFill>
                          <a:latin typeface="Arial"/>
                        </a:rPr>
                        <a:t>○○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B8520F"/>
                          </a:solidFill>
                          <a:latin typeface="Arial"/>
                        </a:rPr>
                        <a:t>●</a:t>
                      </a:r>
                      <a:r>
                        <a:rPr sz="1600" b="0">
                          <a:solidFill>
                            <a:srgbClr val="C8C3B8"/>
                          </a:solidFill>
                          <a:latin typeface="Arial"/>
                        </a:rPr>
                        <a:t>○○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6 / 12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Mainly a process-change task; hard to measure quickly.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14213D"/>
                          </a:solidFill>
                          <a:latin typeface="IBM Plex Sans"/>
                        </a:rPr>
                        <a:t>Delivery and fulfilment</a:t>
                      </a:r>
                    </a:p>
                  </a:txBody>
                  <a:tcPr marL="109728" marR="109728" marT="64008" marB="64008" anchor="ctr">
                    <a:solidFill>
                      <a:srgbClr val="F6E1D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B8520F"/>
                          </a:solidFill>
                          <a:latin typeface="Arial"/>
                        </a:rPr>
                        <a:t>●●●</a:t>
                      </a:r>
                      <a:r>
                        <a:rPr sz="1600" b="0">
                          <a:solidFill>
                            <a:srgbClr val="C8C3B8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64008" marB="64008" anchor="ctr">
                    <a:solidFill>
                      <a:srgbClr val="F6E1D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B8520F"/>
                          </a:solidFill>
                          <a:latin typeface="Arial"/>
                        </a:rPr>
                        <a:t>●●●</a:t>
                      </a:r>
                      <a:r>
                        <a:rPr sz="1600" b="0">
                          <a:solidFill>
                            <a:srgbClr val="C8C3B8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64008" marB="64008" anchor="ctr">
                    <a:solidFill>
                      <a:srgbClr val="F6E1D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B8520F"/>
                          </a:solidFill>
                          <a:latin typeface="Arial"/>
                        </a:rPr>
                        <a:t>●●●</a:t>
                      </a:r>
                      <a:r>
                        <a:rPr sz="1600" b="0">
                          <a:solidFill>
                            <a:srgbClr val="C8C3B8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64008" marB="64008" anchor="ctr">
                    <a:solidFill>
                      <a:srgbClr val="F6E1D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B8520F"/>
                          </a:solidFill>
                          <a:latin typeface="Arial"/>
                        </a:rPr>
                        <a:t>●●●</a:t>
                      </a:r>
                      <a:r>
                        <a:rPr sz="1600" b="0">
                          <a:solidFill>
                            <a:srgbClr val="C8C3B8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64008" marB="64008" anchor="ctr">
                    <a:solidFill>
                      <a:srgbClr val="F6E1D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14213D"/>
                          </a:solidFill>
                          <a:latin typeface="IBM Plex Sans"/>
                        </a:rPr>
                        <a:t>12 / 12</a:t>
                      </a:r>
                    </a:p>
                  </a:txBody>
                  <a:tcPr marL="109728" marR="109728" marT="64008" marB="64008" anchor="ctr">
                    <a:solidFill>
                      <a:srgbClr val="F6E1D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B8520F"/>
                          </a:solidFill>
                          <a:latin typeface="IBM Plex Sans"/>
                        </a:rPr>
                        <a:t>Prioritised: </a:t>
                      </a: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works on top of existing systems and touches all four.</a:t>
                      </a:r>
                    </a:p>
                  </a:txBody>
                  <a:tcPr marL="109728" marR="109728" marT="64008" marB="64008" anchor="ctr">
                    <a:solidFill>
                      <a:srgbClr val="F6E1D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18895" y="5989320"/>
            <a:ext cx="1585020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55E72"/>
                </a:solidFill>
                <a:latin typeface="IBM Plex Sans"/>
              </a:rPr>
              <a:t>Scored 1–3 by our team from the brief and our assumptions. “Results within ~3 months” means an MVP can show measurable results without replacing any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8895" y="6583680"/>
            <a:ext cx="1585020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B8520F"/>
                </a:solidFill>
                <a:latin typeface="IBM Plex Sans"/>
              </a:rPr>
              <a:t>ONE SOLUTION, A BENEFIT FOR EACH MARKET’S OWN PRIORITY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18895" y="6995160"/>
            <a:ext cx="4978603" cy="2103120"/>
          </a:xfrm>
          <a:prstGeom prst="roundRect">
            <a:avLst>
              <a:gd name="adj" fmla="val 7826"/>
            </a:avLst>
          </a:prstGeom>
          <a:solidFill>
            <a:srgbClr val="ECE9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3215" y="7178040"/>
            <a:ext cx="4429963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IBM Plex Sans"/>
              </a:rPr>
              <a:t>Sweden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3215" y="7616952"/>
            <a:ext cx="4429963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B8520F"/>
                </a:solidFill>
                <a:latin typeface="IBM Plex Sans"/>
              </a:rPr>
              <a:t>Top priority: delivery and fulfilment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3215" y="8046720"/>
            <a:ext cx="4429963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555E72"/>
                </a:solidFill>
                <a:latin typeface="IBM Plex Sans"/>
              </a:rPr>
              <a:t>Fewer late and incomplete deliveries; customers warned early.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54698" y="6995160"/>
            <a:ext cx="4978603" cy="2103120"/>
          </a:xfrm>
          <a:prstGeom prst="roundRect">
            <a:avLst>
              <a:gd name="adj" fmla="val 7826"/>
            </a:avLst>
          </a:prstGeom>
          <a:solidFill>
            <a:srgbClr val="ECE9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29018" y="7178040"/>
            <a:ext cx="4429963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IBM Plex Sans"/>
              </a:rPr>
              <a:t>Denmark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9018" y="7616952"/>
            <a:ext cx="4429963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B8520F"/>
                </a:solidFill>
                <a:latin typeface="IBM Plex Sans"/>
              </a:rPr>
              <a:t>Top priority: manual processes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9018" y="8046720"/>
            <a:ext cx="4429963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555E72"/>
                </a:solidFill>
                <a:latin typeface="IBM Plex Sans"/>
              </a:rPr>
              <a:t>No more searching several systems to answer “where is my order?”.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090501" y="6995160"/>
            <a:ext cx="4978603" cy="2103120"/>
          </a:xfrm>
          <a:prstGeom prst="roundRect">
            <a:avLst>
              <a:gd name="adj" fmla="val 7826"/>
            </a:avLst>
          </a:prstGeom>
          <a:solidFill>
            <a:srgbClr val="ECE9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64821" y="7178040"/>
            <a:ext cx="4429963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IBM Plex Sans"/>
              </a:rPr>
              <a:t>Norway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64821" y="7616952"/>
            <a:ext cx="4429963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B8520F"/>
                </a:solidFill>
                <a:latin typeface="IBM Plex Sans"/>
              </a:rPr>
              <a:t>Top priority: store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64821" y="8046720"/>
            <a:ext cx="4429963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555E72"/>
                </a:solidFill>
                <a:latin typeface="IBM Plex Sans"/>
              </a:rPr>
              <a:t>Every store handles problem orders the same way, from one task list.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8895" y="9555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55E72"/>
                </a:solidFill>
                <a:latin typeface="IBM Plex Sans"/>
              </a:rPr>
              <a:t>Team Old Men · Company A · Round 1 proposal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54704" y="95554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55E72"/>
                </a:solidFill>
                <a:latin typeface="IBM Plex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9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8895" y="713232"/>
            <a:ext cx="1585020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B8520F"/>
                </a:solidFill>
                <a:latin typeface="IBM Plex Sans"/>
              </a:rPr>
              <a:t>KEY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8895" y="1097280"/>
            <a:ext cx="15850209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14213D"/>
                </a:solidFill>
                <a:latin typeface="Georgia"/>
              </a:rPr>
              <a:t>We state, justify and test every assumption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18895" y="2377440"/>
          <a:ext cx="15850207" cy="53949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849481"/>
                <a:gridCol w="5660788"/>
                <a:gridCol w="4339938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Assumption</a:t>
                      </a:r>
                    </a:p>
                  </a:txBody>
                  <a:tcPr marL="109728" marR="109728" marT="64008" marB="64008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Why it is reasonable</a:t>
                      </a:r>
                    </a:p>
                  </a:txBody>
                  <a:tcPr marL="109728" marR="109728" marT="64008" marB="64008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How we check it in weeks 1–3</a:t>
                      </a:r>
                    </a:p>
                  </a:txBody>
                  <a:tcPr marL="109728" marR="109728" marT="64008" marB="64008" anchor="ctr">
                    <a:solidFill>
                      <a:srgbClr val="14213D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One order is often fulfilled from several sources: store, central warehouse, supplier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Building materials are bulky and varied; the brief names store and distribution operations separately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Sample 500 recent orders and count the sources per order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Order, stock, purchasing and transport data sit in separate systems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Each country built its own systems over time (brief)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Map the Swedish systems with local IT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About 10% of deliveries are late, incomplete or failed today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Typical for bulky deliveries from several sources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Measure from 12 months of delivery history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About 60% of those problems start before the truck leaves: missing stock, late supplier, picking not done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A delivery can only leave on time if every part is ready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Classify the causes of last quarter’s problem deliveries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Every system can at least export its data (API, database or file export)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Standard for retail order and finance systems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Technical check of each source system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Sweden feels fulfilment pain the most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The brief’s own example; long distances and heavy use of external carriers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Compare delivery figures across the three countries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18895" y="8183879"/>
            <a:ext cx="15850209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555E72"/>
                </a:solidFill>
                <a:latin typeface="IBM Plex Sans"/>
              </a:rPr>
              <a:t>All figures in this deck are illustrative assumptions. Weeks 1–3 of the MVP replace them with measured values before any target is fixed.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8895" y="9555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55E72"/>
                </a:solidFill>
                <a:latin typeface="IBM Plex Sans"/>
              </a:rPr>
              <a:t>Team Old Men · Company A · Round 1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54704" y="95554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55E72"/>
                </a:solidFill>
                <a:latin typeface="IBM Plex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8895" y="713232"/>
            <a:ext cx="1585020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B8520F"/>
                </a:solidFill>
                <a:latin typeface="IBM Plex Sans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8895" y="1097280"/>
            <a:ext cx="15850209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14213D"/>
                </a:solidFill>
                <a:latin typeface="Georgia"/>
              </a:rPr>
              <a:t>A control layer that joins, checks and 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8895" y="23317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555E72"/>
                </a:solidFill>
                <a:latin typeface="IBM Plex Sans"/>
              </a:rPr>
              <a:t>Existing systems (unchanged)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18895" y="2724912"/>
            <a:ext cx="2834640" cy="566928"/>
          </a:xfrm>
          <a:prstGeom prst="roundRect">
            <a:avLst>
              <a:gd name="adj" fmla="val 29032"/>
            </a:avLst>
          </a:prstGeom>
          <a:solidFill>
            <a:srgbClr val="ECE9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01775" y="2724912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IBM Plex Sans"/>
              </a:rPr>
              <a:t>Order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18895" y="3438144"/>
            <a:ext cx="2834640" cy="566928"/>
          </a:xfrm>
          <a:prstGeom prst="roundRect">
            <a:avLst>
              <a:gd name="adj" fmla="val 29032"/>
            </a:avLst>
          </a:prstGeom>
          <a:solidFill>
            <a:srgbClr val="ECE9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01775" y="3438144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IBM Plex Sans"/>
              </a:rPr>
              <a:t>Stock and warehouse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8895" y="4151376"/>
            <a:ext cx="2834640" cy="566928"/>
          </a:xfrm>
          <a:prstGeom prst="roundRect">
            <a:avLst>
              <a:gd name="adj" fmla="val 29032"/>
            </a:avLst>
          </a:prstGeom>
          <a:solidFill>
            <a:srgbClr val="ECE9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1775" y="4151376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IBM Plex Sans"/>
              </a:rPr>
              <a:t>Purchasing and suppliers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8895" y="4864608"/>
            <a:ext cx="2834640" cy="566928"/>
          </a:xfrm>
          <a:prstGeom prst="roundRect">
            <a:avLst>
              <a:gd name="adj" fmla="val 29032"/>
            </a:avLst>
          </a:prstGeom>
          <a:solidFill>
            <a:srgbClr val="ECE9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1775" y="486460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IBM Plex Sans"/>
              </a:rPr>
              <a:t>Transport and carriers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90695" y="3904487"/>
            <a:ext cx="411480" cy="329184"/>
          </a:xfrm>
          <a:prstGeom prst="rightArrow">
            <a:avLst/>
          </a:prstGeom>
          <a:solidFill>
            <a:srgbClr val="B852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39335" y="3017520"/>
            <a:ext cx="2514600" cy="2148840"/>
          </a:xfrm>
          <a:prstGeom prst="roundRect">
            <a:avLst>
              <a:gd name="adj" fmla="val 7659"/>
            </a:avLst>
          </a:prstGeom>
          <a:solidFill>
            <a:srgbClr val="FFFFFF"/>
          </a:solidFill>
          <a:ln w="25400">
            <a:solidFill>
              <a:srgbClr val="1421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67935" y="320040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IBM Plex Sans"/>
              </a:rPr>
              <a:t>Country adapter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7935" y="365760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555E72"/>
                </a:solidFill>
                <a:latin typeface="IBM Plex Sans"/>
              </a:rPr>
              <a:t>Reads and translates local data into one shared format. One per country.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391095" y="3904487"/>
            <a:ext cx="411480" cy="329184"/>
          </a:xfrm>
          <a:prstGeom prst="rightArrow">
            <a:avLst/>
          </a:prstGeom>
          <a:solidFill>
            <a:srgbClr val="B852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39735" y="2377440"/>
            <a:ext cx="4937760" cy="3520440"/>
          </a:xfrm>
          <a:prstGeom prst="roundRect">
            <a:avLst>
              <a:gd name="adj" fmla="val 4675"/>
            </a:avLst>
          </a:prstGeom>
          <a:solidFill>
            <a:srgbClr val="1421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4055" y="2514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F0A35E"/>
                </a:solidFill>
                <a:latin typeface="IBM Plex Sans"/>
              </a:rPr>
              <a:t>Shared core (same in every country)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4055" y="2971800"/>
            <a:ext cx="4389120" cy="804672"/>
          </a:xfrm>
          <a:prstGeom prst="roundRect">
            <a:avLst>
              <a:gd name="adj" fmla="val 20454"/>
            </a:avLst>
          </a:prstGeom>
          <a:solidFill>
            <a:srgbClr val="2232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6935" y="2971800"/>
            <a:ext cx="4114800" cy="8046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BM Plex Sans"/>
              </a:rPr>
              <a:t>Join: </a:t>
            </a:r>
            <a:r>
              <a:rPr sz="1600" b="0" i="0">
                <a:solidFill>
                  <a:srgbClr val="C9D1E3"/>
                </a:solidFill>
                <a:latin typeface="IBM Plex Sans"/>
              </a:rPr>
              <a:t>one timeline per order, across all systems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14055" y="3913632"/>
            <a:ext cx="4389120" cy="804672"/>
          </a:xfrm>
          <a:prstGeom prst="roundRect">
            <a:avLst>
              <a:gd name="adj" fmla="val 20454"/>
            </a:avLst>
          </a:prstGeom>
          <a:solidFill>
            <a:srgbClr val="2232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6935" y="3913632"/>
            <a:ext cx="4114800" cy="8046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BM Plex Sans"/>
              </a:rPr>
              <a:t>Check: </a:t>
            </a:r>
            <a:r>
              <a:rPr sz="1600" b="0" i="0">
                <a:solidFill>
                  <a:srgbClr val="C9D1E3"/>
                </a:solidFill>
                <a:latin typeface="IBM Plex Sans"/>
              </a:rPr>
              <a:t>each part against the date promised to the customer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14055" y="4855464"/>
            <a:ext cx="4389120" cy="804672"/>
          </a:xfrm>
          <a:prstGeom prst="roundRect">
            <a:avLst>
              <a:gd name="adj" fmla="val 20454"/>
            </a:avLst>
          </a:prstGeom>
          <a:solidFill>
            <a:srgbClr val="2232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6935" y="4855464"/>
            <a:ext cx="4114800" cy="8046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BM Plex Sans"/>
              </a:rPr>
              <a:t>Act: </a:t>
            </a:r>
            <a:r>
              <a:rPr sz="1600" b="0" i="0">
                <a:solidFill>
                  <a:srgbClr val="C9D1E3"/>
                </a:solidFill>
                <a:latin typeface="IBM Plex Sans"/>
              </a:rPr>
              <a:t>a task for the store and an early warning to the customer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3014655" y="3904487"/>
            <a:ext cx="411480" cy="329184"/>
          </a:xfrm>
          <a:prstGeom prst="rightArrow">
            <a:avLst/>
          </a:prstGeom>
          <a:solidFill>
            <a:srgbClr val="B852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563295" y="2331720"/>
            <a:ext cx="350580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555E72"/>
                </a:solidFill>
                <a:latin typeface="IBM Plex Sans"/>
              </a:rPr>
              <a:t>Outputs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563295" y="2724912"/>
            <a:ext cx="3505809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19050">
            <a:solidFill>
              <a:srgbClr val="B8520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46175" y="2724912"/>
            <a:ext cx="3231489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IBM Plex Sans"/>
              </a:rPr>
              <a:t>Task list for each store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563295" y="3438144"/>
            <a:ext cx="3505809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19050">
            <a:solidFill>
              <a:srgbClr val="B8520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46175" y="3438144"/>
            <a:ext cx="3231489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IBM Plex Sans"/>
              </a:rPr>
              <a:t>Order lookup for staff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563295" y="4151376"/>
            <a:ext cx="3505809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19050">
            <a:solidFill>
              <a:srgbClr val="B8520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46175" y="4151376"/>
            <a:ext cx="3231489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IBM Plex Sans"/>
              </a:rPr>
              <a:t>Early updates to customers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563295" y="4864608"/>
            <a:ext cx="3505809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19050">
            <a:solidFill>
              <a:srgbClr val="B8520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46175" y="4864608"/>
            <a:ext cx="3231489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IBM Plex Sans"/>
              </a:rPr>
              <a:t>KPI view for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18895" y="6172200"/>
            <a:ext cx="7742224" cy="868680"/>
          </a:xfrm>
          <a:prstGeom prst="roundRect">
            <a:avLst>
              <a:gd name="adj" fmla="val 18947"/>
            </a:avLst>
          </a:prstGeom>
          <a:solidFill>
            <a:srgbClr val="ECE9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93215" y="6172200"/>
            <a:ext cx="7193584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IBM Plex Sans"/>
              </a:rPr>
              <a:t>One strategic solution: </a:t>
            </a:r>
            <a:r>
              <a:rPr sz="1600" b="0" i="0">
                <a:solidFill>
                  <a:srgbClr val="14213D"/>
                </a:solidFill>
                <a:latin typeface="IBM Plex Sans"/>
              </a:rPr>
              <a:t>the same order model, risk rules and screens in every market.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26880" y="6172200"/>
            <a:ext cx="7742224" cy="868680"/>
          </a:xfrm>
          <a:prstGeom prst="roundRect">
            <a:avLst>
              <a:gd name="adj" fmla="val 18947"/>
            </a:avLst>
          </a:prstGeom>
          <a:solidFill>
            <a:srgbClr val="ECE9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0" y="6172200"/>
            <a:ext cx="7193584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IBM Plex Sans"/>
              </a:rPr>
              <a:t>Not one identical implementation: </a:t>
            </a:r>
            <a:r>
              <a:rPr sz="1600" b="0" i="0">
                <a:solidFill>
                  <a:srgbClr val="14213D"/>
                </a:solidFill>
                <a:latin typeface="IBM Plex Sans"/>
              </a:rPr>
              <a:t>own adapter per country; cut-off times, delivery windows, language and channels are settings.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8895" y="7269480"/>
            <a:ext cx="1585020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B8520F"/>
                </a:solidFill>
                <a:latin typeface="IBM Plex Sans"/>
              </a:rPr>
              <a:t>WHY NOT SOMETHING BIGGER FIRST?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18895" y="7680960"/>
            <a:ext cx="45720" cy="1325880"/>
          </a:xfrm>
          <a:prstGeom prst="rect">
            <a:avLst/>
          </a:prstGeom>
          <a:solidFill>
            <a:srgbClr val="C8C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01775" y="7680960"/>
            <a:ext cx="348249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IBM Plex Sans"/>
              </a:rPr>
              <a:t>Replace all systems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01775" y="8092440"/>
            <a:ext cx="348249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555E72"/>
                </a:solidFill>
                <a:latin typeface="IBM Plex Sans"/>
              </a:rPr>
              <a:t>Takes years; conflicts with “time to market is critical”.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50027" y="7680960"/>
            <a:ext cx="45720" cy="1325880"/>
          </a:xfrm>
          <a:prstGeom prst="rect">
            <a:avLst/>
          </a:prstGeom>
          <a:solidFill>
            <a:srgbClr val="C8C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32907" y="7680960"/>
            <a:ext cx="348249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IBM Plex Sans"/>
              </a:rPr>
              <a:t>Connect systems to each other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32907" y="8092440"/>
            <a:ext cx="348249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555E72"/>
                </a:solidFill>
                <a:latin typeface="IBM Plex Sans"/>
              </a:rPr>
              <a:t>Connections multiply; still no single view of an order.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81160" y="7680960"/>
            <a:ext cx="45720" cy="1325880"/>
          </a:xfrm>
          <a:prstGeom prst="rect">
            <a:avLst/>
          </a:prstGeom>
          <a:solidFill>
            <a:srgbClr val="C8C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64040" y="7680960"/>
            <a:ext cx="348249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IBM Plex Sans"/>
              </a:rPr>
              <a:t>Data warehouse and reports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64040" y="8092440"/>
            <a:ext cx="348249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555E72"/>
                </a:solidFill>
                <a:latin typeface="IBM Plex Sans"/>
              </a:rPr>
              <a:t>Shows problems after they happen; nobody is told to act.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312292" y="7680960"/>
            <a:ext cx="45720" cy="1325880"/>
          </a:xfrm>
          <a:prstGeom prst="rect">
            <a:avLst/>
          </a:prstGeom>
          <a:solidFill>
            <a:srgbClr val="C8C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495172" y="7680960"/>
            <a:ext cx="348249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IBM Plex Sans"/>
              </a:rPr>
              <a:t>Full order management system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495172" y="8092440"/>
            <a:ext cx="348249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555E72"/>
                </a:solidFill>
                <a:latin typeface="IBM Plex Sans"/>
              </a:rPr>
              <a:t>Changes systems and processes in all countries at once.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8895" y="9555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55E72"/>
                </a:solidFill>
                <a:latin typeface="IBM Plex Sans"/>
              </a:rPr>
              <a:t>Team Old Men · Company A · Round 1 proposal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154704" y="95554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55E72"/>
                </a:solidFill>
                <a:latin typeface="IBM Plex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8895" y="713232"/>
            <a:ext cx="1585020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B8520F"/>
                </a:solidFill>
                <a:latin typeface="IBM Plex Sans"/>
              </a:rPr>
              <a:t>HOW IT WORKS: ONE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8895" y="1097280"/>
            <a:ext cx="15850209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14213D"/>
                </a:solidFill>
                <a:latin typeface="Georgia"/>
              </a:rPr>
              <a:t>Order 1001: found on Monday, not on Wednesday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8895" y="23317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555E72"/>
                </a:solidFill>
                <a:latin typeface="IBM Plex Sans"/>
              </a:rPr>
              <a:t>A construction customer’s order is promised for </a:t>
            </a:r>
            <a:r>
              <a:rPr sz="1700" b="1" i="0">
                <a:solidFill>
                  <a:srgbClr val="555E72"/>
                </a:solidFill>
                <a:latin typeface="IBM Plex Sans"/>
              </a:rPr>
              <a:t>Wednesday</a:t>
            </a:r>
            <a:r>
              <a:rPr sz="1700" b="0" i="0">
                <a:solidFill>
                  <a:srgbClr val="555E72"/>
                </a:solidFill>
                <a:latin typeface="IBM Plex Sans"/>
              </a:rPr>
              <a:t>. Today is </a:t>
            </a:r>
            <a:r>
              <a:rPr sz="1700" b="1" i="0">
                <a:solidFill>
                  <a:srgbClr val="555E72"/>
                </a:solidFill>
                <a:latin typeface="IBM Plex Sans"/>
              </a:rPr>
              <a:t>Monday</a:t>
            </a:r>
            <a:r>
              <a:rPr sz="1700" b="0" i="0">
                <a:solidFill>
                  <a:srgbClr val="555E72"/>
                </a:solidFill>
                <a:latin typeface="IBM Plex Sans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18895" y="2834640"/>
          <a:ext cx="9601198" cy="25420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65429"/>
                <a:gridCol w="2091350"/>
                <a:gridCol w="2091350"/>
                <a:gridCol w="2281473"/>
                <a:gridCol w="2471596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Line</a:t>
                      </a:r>
                    </a:p>
                  </a:txBody>
                  <a:tcPr marL="109728" marR="109728" marT="64008" marB="64008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Product</a:t>
                      </a:r>
                    </a:p>
                  </a:txBody>
                  <a:tcPr marL="109728" marR="109728" marT="64008" marB="64008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Source system</a:t>
                      </a:r>
                    </a:p>
                  </a:txBody>
                  <a:tcPr marL="109728" marR="109728" marT="64008" marB="64008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Status</a:t>
                      </a:r>
                    </a:p>
                  </a:txBody>
                  <a:tcPr marL="109728" marR="109728" marT="64008" marB="64008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Check</a:t>
                      </a:r>
                    </a:p>
                  </a:txBody>
                  <a:tcPr marL="109728" marR="109728" marT="64008" marB="64008" anchor="ctr">
                    <a:solidFill>
                      <a:srgbClr val="14213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A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50 bags of cement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Store stock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Picked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On track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B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20 steel bars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Central warehouse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Not yet picked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Watch: pick by Tue 14:00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C</a:t>
                      </a:r>
                    </a:p>
                  </a:txBody>
                  <a:tcPr marL="109728" marR="109728" marT="64008" marB="64008" anchor="ctr">
                    <a:solidFill>
                      <a:srgbClr val="F6E1D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Concrete mixer</a:t>
                      </a:r>
                    </a:p>
                  </a:txBody>
                  <a:tcPr marL="109728" marR="109728" marT="64008" marB="64008" anchor="ctr">
                    <a:solidFill>
                      <a:srgbClr val="F6E1D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Supplier</a:t>
                      </a:r>
                    </a:p>
                  </a:txBody>
                  <a:tcPr marL="109728" marR="109728" marT="64008" marB="64008" anchor="ctr">
                    <a:solidFill>
                      <a:srgbClr val="F6E1D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Confirmed for Thursday</a:t>
                      </a:r>
                    </a:p>
                  </a:txBody>
                  <a:tcPr marL="109728" marR="109728" marT="64008" marB="64008" anchor="ctr">
                    <a:solidFill>
                      <a:srgbClr val="F6E1D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14213D"/>
                          </a:solidFill>
                          <a:latin typeface="IBM Plex Sans"/>
                        </a:rPr>
                        <a:t>At risk: 1 day late</a:t>
                      </a:r>
                    </a:p>
                  </a:txBody>
                  <a:tcPr marL="109728" marR="109728" marT="64008" marB="64008" anchor="ctr">
                    <a:solidFill>
                      <a:srgbClr val="F6E1D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218895" y="54406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555E72"/>
                </a:solidFill>
                <a:latin typeface="IBM Plex Sans"/>
              </a:rPr>
              <a:t>Each line lives in a different system. Only the joined timeline shows the conflict.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77295" y="2331720"/>
            <a:ext cx="5791809" cy="3749039"/>
          </a:xfrm>
          <a:prstGeom prst="roundRect">
            <a:avLst>
              <a:gd name="adj" fmla="val 4390"/>
            </a:avLst>
          </a:prstGeom>
          <a:solidFill>
            <a:srgbClr val="1421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43055" y="2560320"/>
            <a:ext cx="506028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F0A35E"/>
                </a:solidFill>
                <a:latin typeface="IBM Plex Sans"/>
              </a:rPr>
              <a:t>What the layer does on Monday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43055" y="3063240"/>
            <a:ext cx="5060289" cy="2926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F0A35E"/>
                </a:solidFill>
                <a:latin typeface="IBM Plex Sans"/>
              </a:rPr>
              <a:t>1.  </a:t>
            </a:r>
            <a:r>
              <a:rPr sz="1700" b="0" i="0">
                <a:solidFill>
                  <a:srgbClr val="FFFFFF"/>
                </a:solidFill>
                <a:latin typeface="IBM Plex Sans"/>
              </a:rPr>
              <a:t>Opens a task for the store’s delivery coordinator: “Line C is one day late”.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F0A35E"/>
                </a:solidFill>
                <a:latin typeface="IBM Plex Sans"/>
              </a:rPr>
              <a:t>2.  </a:t>
            </a:r>
            <a:r>
              <a:rPr sz="1700" b="0" i="0">
                <a:solidFill>
                  <a:srgbClr val="FFFFFF"/>
                </a:solidFill>
                <a:latin typeface="IBM Plex Sans"/>
              </a:rPr>
              <a:t>Suggests a fix with a simple rule: deliver A and B on Wednesday, C on Thursday.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F0A35E"/>
                </a:solidFill>
                <a:latin typeface="IBM Plex Sans"/>
              </a:rPr>
              <a:t>3.  </a:t>
            </a:r>
            <a:r>
              <a:rPr sz="1700" b="0" i="0">
                <a:solidFill>
                  <a:srgbClr val="FFFFFF"/>
                </a:solidFill>
                <a:latin typeface="IBM Plex Sans"/>
              </a:rPr>
              <a:t>Once the coordinator confirms, texts the customer the new plan in Swedish.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8895" y="6400800"/>
            <a:ext cx="7742224" cy="2103120"/>
          </a:xfrm>
          <a:prstGeom prst="roundRect">
            <a:avLst>
              <a:gd name="adj" fmla="val 7826"/>
            </a:avLst>
          </a:prstGeom>
          <a:solidFill>
            <a:srgbClr val="ECE9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38935" y="6583680"/>
            <a:ext cx="710214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555E72"/>
                </a:solidFill>
                <a:latin typeface="IBM Plex Sans"/>
              </a:rPr>
              <a:t>WITHOUT THE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8935" y="6995160"/>
            <a:ext cx="7102144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14213D"/>
                </a:solidFill>
                <a:latin typeface="IBM Plex Sans"/>
              </a:rPr>
              <a:t>Wednesday morning the truck arrives without the mixer. The crew waits, the customer calls the store, and staff search four systems to find out why.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6400800"/>
            <a:ext cx="7742224" cy="2103120"/>
          </a:xfrm>
          <a:prstGeom prst="roundRect">
            <a:avLst>
              <a:gd name="adj" fmla="val 7826"/>
            </a:avLst>
          </a:prstGeom>
          <a:solidFill>
            <a:srgbClr val="F6E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6583680"/>
            <a:ext cx="710214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B8520F"/>
                </a:solidFill>
                <a:latin typeface="IBM Plex Sans"/>
              </a:rPr>
              <a:t>WITH THE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6995160"/>
            <a:ext cx="7102144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14213D"/>
                </a:solidFill>
                <a:latin typeface="IBM Plex Sans"/>
              </a:rPr>
              <a:t>Two days to act. The customer re-plans the crew around Thursday, nobody waits on site, and the store avoids a failed delivery.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8895" y="9555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55E72"/>
                </a:solidFill>
                <a:latin typeface="IBM Plex Sans"/>
              </a:rPr>
              <a:t>Team Old Men · Company A · Round 1 proposal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54704" y="95554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55E72"/>
                </a:solidFill>
                <a:latin typeface="IBM Plex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9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8895" y="713232"/>
            <a:ext cx="1585020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B8520F"/>
                </a:solidFill>
                <a:latin typeface="IBM Plex Sans"/>
              </a:rPr>
              <a:t>WHERE AI CREATES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8895" y="1097280"/>
            <a:ext cx="15850209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14213D"/>
                </a:solidFill>
                <a:latin typeface="Georgia"/>
              </a:rPr>
              <a:t>AI only where fixed rules fall short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18895" y="2331720"/>
          <a:ext cx="15850207" cy="44988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41028"/>
                <a:gridCol w="5529142"/>
                <a:gridCol w="5436990"/>
                <a:gridCol w="1843047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AI use</a:t>
                      </a:r>
                    </a:p>
                  </a:txBody>
                  <a:tcPr marL="109728" marR="109728" marT="64008" marB="64008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What it does</a:t>
                      </a:r>
                    </a:p>
                  </a:txBody>
                  <a:tcPr marL="109728" marR="109728" marT="64008" marB="64008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Why fixed rules are not enough</a:t>
                      </a:r>
                    </a:p>
                  </a:txBody>
                  <a:tcPr marL="109728" marR="109728" marT="64008" marB="64008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When</a:t>
                      </a:r>
                    </a:p>
                  </a:txBody>
                  <a:tcPr marL="109728" marR="109728" marT="64008" marB="64008" anchor="ctr">
                    <a:solidFill>
                      <a:srgbClr val="14213D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Read supplier messages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Pulls confirmed dates and quantities from supplier emails and PDF confirmations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Every supplier writes differently; today staff read and type these by hand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B8520F"/>
                          </a:solidFill>
                          <a:latin typeface="IBM Plex Sans"/>
                        </a:rPr>
                        <a:t>MVP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Data-mapping assistant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Helps our engineers connect each new country’s systems to the shared order model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Every country names its data differently; this is the slowest part of each rollout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Phase 2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Delay-risk prediction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Learns which suppliers, products and periods run late even when status looks fine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Rules only see problems that are already visible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Phase 3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Smarter fix suggestions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Weighs stock in nearby stores, distance and customer priority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Too many combinations to write as fixed rules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Phase 3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Customer replies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Answers “where is my order?” by chat or email in Danish, Norwegian and Swedish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Questions vary too much for fixed answers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Phase 3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18895" y="6967728"/>
            <a:ext cx="1585020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55E72"/>
                </a:solidFill>
                <a:latin typeface="IBM Plex Sans"/>
              </a:rPr>
              <a:t>MVP = Sweden pilot, weeks 1–12   ·   Phase 2 = Denmark and Norway   ·   Phase 3 = all markets (see slide 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8895" y="7406640"/>
            <a:ext cx="15850209" cy="1691640"/>
          </a:xfrm>
          <a:prstGeom prst="roundRect">
            <a:avLst>
              <a:gd name="adj" fmla="val 9729"/>
            </a:avLst>
          </a:prstGeom>
          <a:solidFill>
            <a:srgbClr val="1421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84655" y="7571231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F0A35E"/>
                </a:solidFill>
                <a:latin typeface="IBM Plex Sans"/>
              </a:rPr>
              <a:t>AI ASSISTS, RULES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4655" y="7955279"/>
            <a:ext cx="15118689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BM Plex Sans"/>
              </a:rPr>
              <a:t>Every alert comes from a clear rule, so staff always see why. </a:t>
            </a:r>
            <a:r>
              <a:rPr sz="1600" b="0" i="0">
                <a:solidFill>
                  <a:srgbClr val="C9D1E3"/>
                </a:solidFill>
                <a:latin typeface="IBM Plex Sans"/>
              </a:rPr>
              <a:t>AI only reads and suggests: dates it is unsure about go to a person, and if AI is down, staff enter dates by hand as today. Customer messages use only facts from the order timeline, so AI never invents a delivery date. Models run in the EU under GDPR.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8895" y="9555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55E72"/>
                </a:solidFill>
                <a:latin typeface="IBM Plex Sans"/>
              </a:rPr>
              <a:t>Team Old Men · Company A · Round 1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54704" y="95554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55E72"/>
                </a:solidFill>
                <a:latin typeface="IBM Plex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8895" y="713232"/>
            <a:ext cx="1585020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B8520F"/>
                </a:solidFill>
                <a:latin typeface="IBM Plex Sans"/>
              </a:rPr>
              <a:t>MVP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8895" y="1097280"/>
            <a:ext cx="15850209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14213D"/>
                </a:solidFill>
                <a:latin typeface="Georgia"/>
              </a:rPr>
              <a:t>One market, read-only, 12 weeks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8895" y="2286000"/>
            <a:ext cx="8778240" cy="32918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84655" y="246888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F0A35E"/>
                </a:solidFill>
                <a:latin typeface="IBM Plex Sans"/>
              </a:rPr>
              <a:t>In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4655" y="2971800"/>
            <a:ext cx="8046719" cy="2560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 i="0">
                <a:solidFill>
                  <a:srgbClr val="F0A35E"/>
                </a:solidFill>
                <a:latin typeface="IBM Plex Sans"/>
              </a:rPr>
              <a:t>–  </a:t>
            </a:r>
            <a:r>
              <a:rPr sz="1800" b="0" i="0">
                <a:solidFill>
                  <a:srgbClr val="FFFFFF"/>
                </a:solidFill>
                <a:latin typeface="IBM Plex Sans"/>
              </a:rPr>
              <a:t>Sweden, 20 pilot stores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 i="0">
                <a:solidFill>
                  <a:srgbClr val="F0A35E"/>
                </a:solidFill>
                <a:latin typeface="IBM Plex Sans"/>
              </a:rPr>
              <a:t>–  </a:t>
            </a:r>
            <a:r>
              <a:rPr sz="1800" b="0" i="0">
                <a:solidFill>
                  <a:srgbClr val="FFFFFF"/>
                </a:solidFill>
                <a:latin typeface="IBM Plex Sans"/>
              </a:rPr>
              <a:t>One adapter: order, stock, purchasing and transport data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 i="0">
                <a:solidFill>
                  <a:srgbClr val="F0A35E"/>
                </a:solidFill>
                <a:latin typeface="IBM Plex Sans"/>
              </a:rPr>
              <a:t>–  </a:t>
            </a:r>
            <a:r>
              <a:rPr sz="1800" b="0" i="0">
                <a:solidFill>
                  <a:srgbClr val="FFFFFF"/>
                </a:solidFill>
                <a:latin typeface="IBM Plex Sans"/>
              </a:rPr>
              <a:t>Shared order model and rule-based risk checks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 i="0">
                <a:solidFill>
                  <a:srgbClr val="F0A35E"/>
                </a:solidFill>
                <a:latin typeface="IBM Plex Sans"/>
              </a:rPr>
              <a:t>–  </a:t>
            </a:r>
            <a:r>
              <a:rPr sz="1800" b="0" i="0">
                <a:solidFill>
                  <a:srgbClr val="FFFFFF"/>
                </a:solidFill>
                <a:latin typeface="IBM Plex Sans"/>
              </a:rPr>
              <a:t>Task list and order lookup for store staff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 i="0">
                <a:solidFill>
                  <a:srgbClr val="F0A35E"/>
                </a:solidFill>
                <a:latin typeface="IBM Plex Sans"/>
              </a:rPr>
              <a:t>–  </a:t>
            </a:r>
            <a:r>
              <a:rPr sz="1800" b="0" i="0">
                <a:solidFill>
                  <a:srgbClr val="FFFFFF"/>
                </a:solidFill>
                <a:latin typeface="IBM Plex Sans"/>
              </a:rPr>
              <a:t>Delay updates to customers by SMS (fixed templates)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 i="0">
                <a:solidFill>
                  <a:srgbClr val="F0A35E"/>
                </a:solidFill>
                <a:latin typeface="IBM Plex Sans"/>
              </a:rPr>
              <a:t>–  </a:t>
            </a:r>
            <a:r>
              <a:rPr sz="1800" b="0" i="0">
                <a:solidFill>
                  <a:srgbClr val="FFFFFF"/>
                </a:solidFill>
                <a:latin typeface="IBM Plex Sans"/>
              </a:rPr>
              <a:t>AI: reading supplier emails and PDF confirmations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62895" y="2286000"/>
            <a:ext cx="6706209" cy="3291840"/>
          </a:xfrm>
          <a:prstGeom prst="roundRect">
            <a:avLst>
              <a:gd name="adj" fmla="val 5000"/>
            </a:avLst>
          </a:prstGeom>
          <a:solidFill>
            <a:srgbClr val="ECE9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28655" y="246888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555E72"/>
                </a:solidFill>
                <a:latin typeface="IBM Plex Sans"/>
              </a:rPr>
              <a:t>Not in the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2971800"/>
            <a:ext cx="5974689" cy="2560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 i="0">
                <a:solidFill>
                  <a:srgbClr val="B8520F"/>
                </a:solidFill>
                <a:latin typeface="IBM Plex Sans"/>
              </a:rPr>
              <a:t>–  </a:t>
            </a:r>
            <a:r>
              <a:rPr sz="1800" b="0" i="0">
                <a:solidFill>
                  <a:srgbClr val="555E72"/>
                </a:solidFill>
                <a:latin typeface="IBM Plex Sans"/>
              </a:rPr>
              <a:t>Writing back into existing systems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 i="0">
                <a:solidFill>
                  <a:srgbClr val="B8520F"/>
                </a:solidFill>
                <a:latin typeface="IBM Plex Sans"/>
              </a:rPr>
              <a:t>–  </a:t>
            </a:r>
            <a:r>
              <a:rPr sz="1800" b="0" i="0">
                <a:solidFill>
                  <a:srgbClr val="555E72"/>
                </a:solidFill>
                <a:latin typeface="IBM Plex Sans"/>
              </a:rPr>
              <a:t>Replacing any existing system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 i="0">
                <a:solidFill>
                  <a:srgbClr val="B8520F"/>
                </a:solidFill>
                <a:latin typeface="IBM Plex Sans"/>
              </a:rPr>
              <a:t>–  </a:t>
            </a:r>
            <a:r>
              <a:rPr sz="1800" b="0" i="0">
                <a:solidFill>
                  <a:srgbClr val="555E72"/>
                </a:solidFill>
                <a:latin typeface="IBM Plex Sans"/>
              </a:rPr>
              <a:t>Denmark and Norway (Phase 2)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 i="0">
                <a:solidFill>
                  <a:srgbClr val="B8520F"/>
                </a:solidFill>
                <a:latin typeface="IBM Plex Sans"/>
              </a:rPr>
              <a:t>–  </a:t>
            </a:r>
            <a:r>
              <a:rPr sz="1800" b="0" i="0">
                <a:solidFill>
                  <a:srgbClr val="555E72"/>
                </a:solidFill>
                <a:latin typeface="IBM Plex Sans"/>
              </a:rPr>
              <a:t>Live driver tracking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 i="0">
                <a:solidFill>
                  <a:srgbClr val="B8520F"/>
                </a:solidFill>
                <a:latin typeface="IBM Plex Sans"/>
              </a:rPr>
              <a:t>–  </a:t>
            </a:r>
            <a:r>
              <a:rPr sz="1800" b="0" i="0">
                <a:solidFill>
                  <a:srgbClr val="555E72"/>
                </a:solidFill>
                <a:latin typeface="IBM Plex Sans"/>
              </a:rPr>
              <a:t>AI delay prediction (Phase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8895" y="5806440"/>
            <a:ext cx="1585020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B8520F"/>
                </a:solidFill>
                <a:latin typeface="IBM Plex Sans"/>
              </a:rPr>
              <a:t>12-WEEK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8895" y="6199632"/>
            <a:ext cx="3756812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5875">
            <a:solidFill>
              <a:srgbClr val="1421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7495" y="6309360"/>
            <a:ext cx="329961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B8520F"/>
                </a:solidFill>
                <a:latin typeface="IBM Plex Sans"/>
              </a:rPr>
              <a:t>Weeks 1–3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7495" y="6675120"/>
            <a:ext cx="329961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IBM Plex Sans"/>
              </a:rPr>
              <a:t>Map Swedish systems, check assumptions, measure the baseline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0027" y="6199632"/>
            <a:ext cx="3756812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5875">
            <a:solidFill>
              <a:srgbClr val="1421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78627" y="6309360"/>
            <a:ext cx="329961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B8520F"/>
                </a:solidFill>
                <a:latin typeface="IBM Plex Sans"/>
              </a:rPr>
              <a:t>Weeks 4–7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8627" y="6675120"/>
            <a:ext cx="329961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IBM Plex Sans"/>
              </a:rPr>
              <a:t>Build the adapter, order model and risk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6199632"/>
            <a:ext cx="3756812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5875">
            <a:solidFill>
              <a:srgbClr val="1421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6309360"/>
            <a:ext cx="329961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B8520F"/>
                </a:solidFill>
                <a:latin typeface="IBM Plex Sans"/>
              </a:rPr>
              <a:t>Weeks 8–10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6675120"/>
            <a:ext cx="329961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IBM Plex Sans"/>
              </a:rPr>
              <a:t>Staff screens and alerts; test in 2 stores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312292" y="6199632"/>
            <a:ext cx="3756812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5875">
            <a:solidFill>
              <a:srgbClr val="1421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40892" y="6309360"/>
            <a:ext cx="329961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B8520F"/>
                </a:solidFill>
                <a:latin typeface="IBM Plex Sans"/>
              </a:rPr>
              <a:t>Weeks 11–12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40892" y="6675120"/>
            <a:ext cx="329961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IBM Plex Sans"/>
              </a:rPr>
              <a:t>Live in 20 stores; compare with the baseline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18895" y="7635240"/>
            <a:ext cx="6400800" cy="1463040"/>
          </a:xfrm>
          <a:prstGeom prst="roundRect">
            <a:avLst>
              <a:gd name="adj" fmla="val 11249"/>
            </a:avLst>
          </a:prstGeom>
          <a:solidFill>
            <a:srgbClr val="ECE9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93215" y="7772400"/>
            <a:ext cx="585216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IBM Plex Sans"/>
              </a:rPr>
              <a:t>Team and cost (assumed)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IBM Plex Sans"/>
              </a:rPr>
              <a:t>6 people: product owner, 2 developers, integration engineer, UX designer (part-time) and a Swedish store-operations lead. About </a:t>
            </a:r>
            <a:r>
              <a:rPr sz="1500" b="1" i="0">
                <a:solidFill>
                  <a:srgbClr val="14213D"/>
                </a:solidFill>
                <a:latin typeface="IBM Plex Sans"/>
              </a:rPr>
              <a:t>EUR 250k</a:t>
            </a:r>
            <a:r>
              <a:rPr sz="1500" b="0" i="0">
                <a:solidFill>
                  <a:srgbClr val="14213D"/>
                </a:solidFill>
                <a:latin typeface="IBM Plex Sans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85455" y="7635240"/>
            <a:ext cx="9083649" cy="1463040"/>
          </a:xfrm>
          <a:prstGeom prst="roundRect">
            <a:avLst>
              <a:gd name="adj" fmla="val 11249"/>
            </a:avLst>
          </a:prstGeom>
          <a:solidFill>
            <a:srgbClr val="F6E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9775" y="7772400"/>
            <a:ext cx="8535009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IBM Plex Sans"/>
              </a:rPr>
              <a:t>Go / no-go for Denmark and Norway after week 12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IBM Plex Sans"/>
              </a:rPr>
              <a:t>≥ 60% of problem deliveries flagged at least a day ahead  ·  staff in pilot stores use the task list every day  ·  data matches the source systems in ≥ 98% of checked orders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8895" y="9555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55E72"/>
                </a:solidFill>
                <a:latin typeface="IBM Plex Sans"/>
              </a:rPr>
              <a:t>Team Old Men · Company A · Round 1 proposal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54704" y="95554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55E72"/>
                </a:solidFill>
                <a:latin typeface="IBM Plex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8895" y="713232"/>
            <a:ext cx="1585020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B8520F"/>
                </a:solidFill>
                <a:latin typeface="IBM Plex Sans"/>
              </a:rPr>
              <a:t>ROLLOUT ACROSS 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8895" y="1097280"/>
            <a:ext cx="15850209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14213D"/>
                </a:solidFill>
                <a:latin typeface="Georgia"/>
              </a:rPr>
              <a:t>One core, adapted to each country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8895" y="2331720"/>
            <a:ext cx="5283403" cy="82296"/>
          </a:xfrm>
          <a:prstGeom prst="rect">
            <a:avLst/>
          </a:prstGeom>
          <a:solidFill>
            <a:srgbClr val="B852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8895" y="2560320"/>
            <a:ext cx="4917643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B8520F"/>
                </a:solidFill>
                <a:latin typeface="IBM Plex Sans"/>
              </a:rPr>
              <a:t>Phase 1 · months 1–3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8895" y="2926080"/>
            <a:ext cx="4917643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IBM Plex Sans"/>
              </a:rPr>
              <a:t>Sweden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8895" y="3429000"/>
            <a:ext cx="4871923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555E72"/>
                </a:solidFill>
                <a:latin typeface="IBM Plex Sans"/>
              </a:rPr>
              <a:t>Prove the impact where fulfilment hurts most. Store staff co-design the screens.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02298" y="2331720"/>
            <a:ext cx="5283403" cy="82296"/>
          </a:xfrm>
          <a:prstGeom prst="rect">
            <a:avLst/>
          </a:prstGeom>
          <a:solidFill>
            <a:srgbClr val="F0A3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2298" y="2560320"/>
            <a:ext cx="4917643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B8520F"/>
                </a:solidFill>
                <a:latin typeface="IBM Plex Sans"/>
              </a:rPr>
              <a:t>Phase 2 · months 4–9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298" y="2926080"/>
            <a:ext cx="4917643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IBM Plex Sans"/>
              </a:rPr>
              <a:t>Denmark and Norway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2298" y="3429000"/>
            <a:ext cx="4871923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555E72"/>
                </a:solidFill>
                <a:latin typeface="IBM Plex Sans"/>
              </a:rPr>
              <a:t>New adapters, built faster with the AI mapping assistant. Denmark: less manual chasing. Norway: one way for every store to handle problem orders.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85701" y="2331720"/>
            <a:ext cx="5283403" cy="82296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85701" y="2560320"/>
            <a:ext cx="4917643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B8520F"/>
                </a:solidFill>
                <a:latin typeface="IBM Plex Sans"/>
              </a:rPr>
              <a:t>Phase 3 · month 10 onwards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85701" y="2926080"/>
            <a:ext cx="4917643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IBM Plex Sans"/>
              </a:rPr>
              <a:t>All markets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85701" y="3429000"/>
            <a:ext cx="4871923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555E72"/>
                </a:solidFill>
                <a:latin typeface="IBM Plex Sans"/>
              </a:rPr>
              <a:t>AI delay prediction, smarter fix suggestions, and write-back into existing systems.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18895" y="4754880"/>
            <a:ext cx="7742224" cy="1691640"/>
          </a:xfrm>
          <a:prstGeom prst="roundRect">
            <a:avLst>
              <a:gd name="adj" fmla="val 9729"/>
            </a:avLst>
          </a:prstGeom>
          <a:solidFill>
            <a:srgbClr val="ECE9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38935" y="4892040"/>
            <a:ext cx="7102144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4213D"/>
                </a:solidFill>
                <a:latin typeface="IBM Plex Sans"/>
              </a:rPr>
              <a:t>Why Sweden first, not the home market Denmark?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555E72"/>
                </a:solidFill>
                <a:latin typeface="IBM Plex Sans"/>
              </a:rPr>
              <a:t>Fulfilment hurts most in Sweden, so the effect is clearest to measure. A smaller pilot also keeps early mistakes away from the largest market.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4754880"/>
            <a:ext cx="7742224" cy="1691640"/>
          </a:xfrm>
          <a:prstGeom prst="roundRect">
            <a:avLst>
              <a:gd name="adj" fmla="val 9729"/>
            </a:avLst>
          </a:prstGeom>
          <a:solidFill>
            <a:srgbClr val="ECE9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4892040"/>
            <a:ext cx="7102144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4213D"/>
                </a:solidFill>
                <a:latin typeface="IBM Plex Sans"/>
              </a:rPr>
              <a:t>Who acts on the alerts?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555E72"/>
                </a:solidFill>
                <a:latin typeface="IBM Plex Sans"/>
              </a:rPr>
              <a:t>Each store’s delivery coordinator owns its task list and handles alerts the same working day. A central team of 3–4 owns the rules, settings and KPIs for all countries.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8895" y="6675120"/>
            <a:ext cx="1585020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B8520F"/>
                </a:solidFill>
                <a:latin typeface="IBM Plex Sans"/>
              </a:rPr>
              <a:t>KEY RISKS AND HOW WE HANDLE THEM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18895" y="7086600"/>
            <a:ext cx="3756812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C8C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7495" y="7242048"/>
            <a:ext cx="329961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IBM Plex Sans"/>
              </a:rPr>
              <a:t>Poor or inconsistent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7495" y="7699248"/>
            <a:ext cx="3299612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555E72"/>
                </a:solidFill>
                <a:latin typeface="IBM Plex Sans"/>
              </a:rPr>
              <a:t>Data checks in every adapter; the pilot validates the order model first.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50027" y="7086600"/>
            <a:ext cx="3756812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C8C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78627" y="7242048"/>
            <a:ext cx="329961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IBM Plex Sans"/>
              </a:rPr>
              <a:t>Old systems without APIs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78627" y="7699248"/>
            <a:ext cx="3299612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555E72"/>
                </a:solidFill>
                <a:latin typeface="IBM Plex Sans"/>
              </a:rPr>
              <a:t>Hourly or daily file exports instead; still far better than today.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81160" y="7086600"/>
            <a:ext cx="3756812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C8C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7242048"/>
            <a:ext cx="329961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IBM Plex Sans"/>
              </a:rPr>
              <a:t>Staff do not adopt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7699248"/>
            <a:ext cx="3299612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555E72"/>
                </a:solidFill>
                <a:latin typeface="IBM Plex Sans"/>
              </a:rPr>
              <a:t>No extra data entry; it replaces searching. 1-hour training and a super-user per store.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312292" y="7086600"/>
            <a:ext cx="3756812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C8C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540892" y="7242048"/>
            <a:ext cx="329961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IBM Plex Sans"/>
              </a:rPr>
              <a:t>Too many alerts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40892" y="7699248"/>
            <a:ext cx="3299612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555E72"/>
                </a:solidFill>
                <a:latin typeface="IBM Plex Sans"/>
              </a:rPr>
              <a:t>Start with a few rules; tune thresholds weekly with the pilot stores.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8895" y="9555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55E72"/>
                </a:solidFill>
                <a:latin typeface="IBM Plex Sans"/>
              </a:rPr>
              <a:t>Team Old Men · Company A · Round 1 proposal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154704" y="95554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55E72"/>
                </a:solidFill>
                <a:latin typeface="IBM Plex 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8895" y="713232"/>
            <a:ext cx="1585020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F0A35E"/>
                </a:solidFill>
                <a:latin typeface="IBM Plex Sans"/>
              </a:rPr>
              <a:t>MEASURABLE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8895" y="1097280"/>
            <a:ext cx="15850209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Small pilot to prove it, large value at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8895" y="2286000"/>
            <a:ext cx="7742224" cy="3566160"/>
          </a:xfrm>
          <a:prstGeom prst="roundRect">
            <a:avLst>
              <a:gd name="adj" fmla="val 4615"/>
            </a:avLst>
          </a:prstGeom>
          <a:solidFill>
            <a:srgbClr val="2232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84655" y="2468880"/>
            <a:ext cx="701070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F0A35E"/>
                </a:solidFill>
                <a:latin typeface="IBM Plex Sans"/>
              </a:rPr>
              <a:t>SWEDEN PILOT · 20 STORES · PER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4655" y="283464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000" b="1" i="0">
                <a:solidFill>
                  <a:srgbClr val="F0A35E"/>
                </a:solidFill>
                <a:latin typeface="Georgia"/>
              </a:rPr>
              <a:t>1,200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10735" y="3017520"/>
            <a:ext cx="408462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IBM Plex Sans"/>
              </a:rPr>
              <a:t>fewer problem deliveries, about EUR 120k saved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4655" y="36576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000" b="1" i="0">
                <a:solidFill>
                  <a:srgbClr val="F0A35E"/>
                </a:solidFill>
                <a:latin typeface="Georgia"/>
              </a:rPr>
              <a:t>400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0735" y="3840480"/>
            <a:ext cx="408462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IBM Plex Sans"/>
              </a:rPr>
              <a:t>of staff time freed from status calls, about EUR 16k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4655" y="4663440"/>
            <a:ext cx="7010704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IBM Plex Sans"/>
              </a:rPr>
              <a:t>Where 30% comes from: </a:t>
            </a:r>
            <a:r>
              <a:rPr sz="1500" b="0" i="0">
                <a:solidFill>
                  <a:srgbClr val="C9D1E3"/>
                </a:solidFill>
                <a:latin typeface="IBM Plex Sans"/>
              </a:rPr>
              <a:t>4,000 problem deliveries × 60% start before dispatch × half can be fixed when flagged a day ahead = 1,200.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2286000"/>
            <a:ext cx="7742224" cy="3566160"/>
          </a:xfrm>
          <a:prstGeom prst="roundRect">
            <a:avLst>
              <a:gd name="adj" fmla="val 4615"/>
            </a:avLst>
          </a:prstGeom>
          <a:solidFill>
            <a:srgbClr val="2232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2468880"/>
            <a:ext cx="701070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F0A35E"/>
                </a:solidFill>
                <a:latin typeface="IBM Plex Sans"/>
              </a:rPr>
              <a:t>GROUP SCALE · ~300 STORES · THREE COUNTRIES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83464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000" b="1" i="0">
                <a:solidFill>
                  <a:srgbClr val="F0A35E"/>
                </a:solidFill>
                <a:latin typeface="Georgia"/>
              </a:rPr>
              <a:t>€2.0M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0" y="3017520"/>
            <a:ext cx="371886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IBM Plex Sans"/>
              </a:rPr>
              <a:t>benefit a year: the pilot result ×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3840480"/>
            <a:ext cx="7010704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IBM Plex Sans"/>
              </a:rPr>
              <a:t>Investment: </a:t>
            </a:r>
            <a:r>
              <a:rPr sz="1500" b="0" i="0">
                <a:solidFill>
                  <a:srgbClr val="C9D1E3"/>
                </a:solidFill>
                <a:latin typeface="IBM Plex Sans"/>
              </a:rPr>
              <a:t>about EUR 750k (MVP 250k + rollout 500k), plus about EUR 150k a year to run.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IBM Plex Sans"/>
              </a:rPr>
              <a:t>Payback: </a:t>
            </a:r>
            <a:r>
              <a:rPr sz="1500" b="0" i="0">
                <a:solidFill>
                  <a:srgbClr val="C9D1E3"/>
                </a:solidFill>
                <a:latin typeface="IBM Plex Sans"/>
              </a:rPr>
              <a:t>within 6 months of full rollout. The pilot alone is not meant to pay back; it proves the numbers.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5166360"/>
            <a:ext cx="701070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IBM Plex Sans"/>
              </a:rPr>
              <a:t>Not counted: </a:t>
            </a:r>
            <a:r>
              <a:rPr sz="1500" b="0" i="0">
                <a:solidFill>
                  <a:srgbClr val="C9D1E3"/>
                </a:solidFill>
                <a:latin typeface="IBM Plex Sans"/>
              </a:rPr>
              <a:t>sales kept from professional customers who no longer switch to a competitor.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218895" y="6126480"/>
          <a:ext cx="15850207" cy="2148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547718"/>
                <a:gridCol w="4245591"/>
                <a:gridCol w="4056898"/>
              </a:tblGrid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KPI</a:t>
                      </a:r>
                    </a:p>
                  </a:txBody>
                  <a:tcPr marL="109728" marR="109728" marT="64008" marB="64008" anchor="ctr">
                    <a:solidFill>
                      <a:srgbClr val="22325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Baseline</a:t>
                      </a:r>
                    </a:p>
                  </a:txBody>
                  <a:tcPr marL="109728" marR="109728" marT="64008" marB="64008" anchor="ctr">
                    <a:solidFill>
                      <a:srgbClr val="22325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BM Plex Sans"/>
                        </a:rPr>
                        <a:t>Pilot target</a:t>
                      </a:r>
                    </a:p>
                  </a:txBody>
                  <a:tcPr marL="109728" marR="109728" marT="64008" marB="64008" anchor="ctr">
                    <a:solidFill>
                      <a:srgbClr val="22325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On-time and complete delivery rate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90% (assumed)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93%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Problem deliveries flagged at least one day ahead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≈ 0% today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60% or more</a:t>
                      </a:r>
                    </a:p>
                  </a:txBody>
                  <a:tcPr marL="109728" marR="109728" marT="64008" marB="64008" anchor="ctr">
                    <a:solidFill>
                      <a:srgbClr val="FBFA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“Where is my order?” contacts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10,000 a year (assumed)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>
                          <a:solidFill>
                            <a:srgbClr val="14213D"/>
                          </a:solidFill>
                          <a:latin typeface="IBM Plex Sans"/>
                        </a:rPr>
                        <a:t>−50%</a:t>
                      </a:r>
                    </a:p>
                  </a:txBody>
                  <a:tcPr marL="109728" marR="109728" marT="64008" marB="64008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218895" y="8823960"/>
            <a:ext cx="1585020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C9D1E3"/>
                </a:solidFill>
                <a:latin typeface="IBM Plex Sans"/>
              </a:rPr>
              <a:t>Assumed: 40,000 deliveries a year in the pilot, 10% problem rate, EUR 100 per problem delivery, 5 minutes per status call, EUR 40 per staff hour.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54704" y="95554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C9D1E3"/>
                </a:solidFill>
                <a:latin typeface="IBM Plex San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8895" y="9555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C9D1E3"/>
                </a:solidFill>
                <a:latin typeface="IBM Plex Sans"/>
              </a:rPr>
              <a:t>Team Old Men · Company A · Round 1 proposal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