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IBM Plex Sans Bold" charset="1" panose="020B0803050203000203"/>
      <p:regular r:id="rId17"/>
    </p:embeddedFont>
    <p:embeddedFont>
      <p:font typeface="Georgia Bold" charset="1" panose="02040802050405020203"/>
      <p:regular r:id="rId18"/>
    </p:embeddedFont>
    <p:embeddedFont>
      <p:font typeface="IBM Plex Sans" charset="1" panose="020B05030502030002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200" y="1219200"/>
            <a:ext cx="1143000" cy="76200"/>
            <a:chOff x="0" y="0"/>
            <a:chExt cx="1524000" cy="1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" cy="101600"/>
            </a:xfrm>
            <a:custGeom>
              <a:avLst/>
              <a:gdLst/>
              <a:ahLst/>
              <a:cxnLst/>
              <a:rect r="r" b="b" t="t" l="l"/>
              <a:pathLst>
                <a:path h="1016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0A35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19200" y="1609725"/>
            <a:ext cx="1584960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b="true">
                <a:solidFill>
                  <a:srgbClr val="F0A35E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IT CONSULTANT CHALLENGE 2026 · ROUND 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9200" y="2143125"/>
            <a:ext cx="14287500" cy="223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16"/>
              </a:lnSpc>
            </a:pPr>
            <a:r>
              <a:rPr lang="en-US" sz="6600" b="true">
                <a:solidFill>
                  <a:srgbClr val="F7F6F2"/>
                </a:solidFill>
                <a:latin typeface="Georgia Bold"/>
                <a:ea typeface="Georgia Bold"/>
                <a:cs typeface="Georgia Bold"/>
                <a:sym typeface="Georgia Bold"/>
              </a:rPr>
              <a:t>Keeping the delivery promise across three markets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9200" y="4476750"/>
            <a:ext cx="12382500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1"/>
              </a:lnSpc>
            </a:pPr>
            <a:r>
              <a:rPr lang="en-US" sz="2550">
                <a:solidFill>
                  <a:srgbClr val="C9D1E0"/>
                </a:solidFill>
                <a:latin typeface="IBM Plex Sans"/>
                <a:ea typeface="IBM Plex Sans"/>
                <a:cs typeface="IBM Plex Sans"/>
                <a:sym typeface="IBM Plex Sans"/>
              </a:rPr>
              <a:t>A fulfilment control layer on top of Company A’s existing systems in Denmark, Norway and Sweden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19200" y="6667500"/>
            <a:ext cx="15849600" cy="19050"/>
            <a:chOff x="0" y="0"/>
            <a:chExt cx="21132800" cy="25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132800" cy="25400"/>
            </a:xfrm>
            <a:custGeom>
              <a:avLst/>
              <a:gdLst/>
              <a:ahLst/>
              <a:cxnLst/>
              <a:rect r="r" b="b" t="t" l="l"/>
              <a:pathLst>
                <a:path h="25400" w="21132800">
                  <a:moveTo>
                    <a:pt x="0" y="0"/>
                  </a:moveTo>
                  <a:lnTo>
                    <a:pt x="21132800" y="0"/>
                  </a:lnTo>
                  <a:lnTo>
                    <a:pt x="211328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3345A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19200" y="6934200"/>
            <a:ext cx="114300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250" b="true">
                <a:solidFill>
                  <a:srgbClr val="F7F6F2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Team Old Men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19200" y="7429500"/>
            <a:ext cx="9525000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2"/>
              </a:lnSpc>
            </a:pPr>
            <a:r>
              <a:rPr lang="en-US" sz="2100">
                <a:solidFill>
                  <a:srgbClr val="F0A35E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  </a:t>
            </a:r>
            <a:r>
              <a:rPr lang="en-US" sz="2100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Nguyễn Việt Anh</a:t>
            </a:r>
          </a:p>
          <a:p>
            <a:pPr algn="l">
              <a:lnSpc>
                <a:spcPts val="3402"/>
              </a:lnSpc>
            </a:pPr>
            <a:r>
              <a:rPr lang="en-US" sz="2100">
                <a:solidFill>
                  <a:srgbClr val="F0A35E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  </a:t>
            </a:r>
            <a:r>
              <a:rPr lang="en-US" sz="2100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Vũ Văn Hậu</a:t>
            </a:r>
          </a:p>
          <a:p>
            <a:pPr algn="l">
              <a:lnSpc>
                <a:spcPts val="3402"/>
              </a:lnSpc>
            </a:pPr>
            <a:r>
              <a:rPr lang="en-US" sz="2100">
                <a:solidFill>
                  <a:srgbClr val="F0A35E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  </a:t>
            </a:r>
            <a:r>
              <a:rPr lang="en-US" sz="2100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Nguyễn Hoàng Anh Dũng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211300" y="8505825"/>
            <a:ext cx="285750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42"/>
              </a:lnSpc>
            </a:pPr>
            <a:r>
              <a:rPr lang="en-US" sz="1950">
                <a:solidFill>
                  <a:srgbClr val="C9D1E0"/>
                </a:solidFill>
                <a:latin typeface="IBM Plex Sans"/>
                <a:ea typeface="IBM Plex Sans"/>
                <a:cs typeface="IBM Plex Sans"/>
                <a:sym typeface="IBM Plex Sans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923925"/>
            <a:ext cx="1584960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b="true">
                <a:solidFill>
                  <a:srgbClr val="B8520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WHICH PROBLEM WE PRIORITISE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371600"/>
            <a:ext cx="1584960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500" b="true">
                <a:solidFill>
                  <a:srgbClr val="14213D"/>
                </a:solidFill>
                <a:latin typeface="Georgia Bold"/>
                <a:ea typeface="Georgia Bold"/>
                <a:cs typeface="Georgia Bold"/>
                <a:sym typeface="Georgia Bold"/>
              </a:rPr>
              <a:t>Fulfilment is where one solution shows value fastest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19200" y="2857500"/>
            <a:ext cx="3790950" cy="5715000"/>
            <a:chOff x="0" y="0"/>
            <a:chExt cx="5054600" cy="762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546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5054600">
                  <a:moveTo>
                    <a:pt x="0" y="202184"/>
                  </a:moveTo>
                  <a:cubicBezTo>
                    <a:pt x="0" y="90551"/>
                    <a:pt x="90551" y="0"/>
                    <a:pt x="202184" y="0"/>
                  </a:cubicBezTo>
                  <a:lnTo>
                    <a:pt x="4852416" y="0"/>
                  </a:lnTo>
                  <a:cubicBezTo>
                    <a:pt x="4964049" y="0"/>
                    <a:pt x="5054600" y="90551"/>
                    <a:pt x="5054600" y="202184"/>
                  </a:cubicBezTo>
                  <a:lnTo>
                    <a:pt x="5054600" y="7417816"/>
                  </a:lnTo>
                  <a:cubicBezTo>
                    <a:pt x="5054600" y="7529449"/>
                    <a:pt x="4964049" y="7620000"/>
                    <a:pt x="4852416" y="7620000"/>
                  </a:cubicBezTo>
                  <a:lnTo>
                    <a:pt x="202184" y="7620000"/>
                  </a:lnTo>
                  <a:cubicBezTo>
                    <a:pt x="90551" y="7620000"/>
                    <a:pt x="0" y="7529449"/>
                    <a:pt x="0" y="7417816"/>
                  </a:cubicBezTo>
                  <a:close/>
                </a:path>
              </a:pathLst>
            </a:custGeom>
            <a:solidFill>
              <a:srgbClr val="ECE9E1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562100" y="3133725"/>
            <a:ext cx="310515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b="true">
                <a:solidFill>
                  <a:srgbClr val="4A5568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Later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62100" y="3609975"/>
            <a:ext cx="310515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700" b="true">
                <a:solidFill>
                  <a:srgbClr val="1421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Fragmented systems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62100" y="4772025"/>
            <a:ext cx="310515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1950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Replacing systems in three countries takes years and conflicts with “time to market is critical”.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238750" y="2857500"/>
            <a:ext cx="3790950" cy="5715000"/>
            <a:chOff x="0" y="0"/>
            <a:chExt cx="5054600" cy="762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546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5054600">
                  <a:moveTo>
                    <a:pt x="0" y="202184"/>
                  </a:moveTo>
                  <a:cubicBezTo>
                    <a:pt x="0" y="90551"/>
                    <a:pt x="90551" y="0"/>
                    <a:pt x="202184" y="0"/>
                  </a:cubicBezTo>
                  <a:lnTo>
                    <a:pt x="4852416" y="0"/>
                  </a:lnTo>
                  <a:cubicBezTo>
                    <a:pt x="4964049" y="0"/>
                    <a:pt x="5054600" y="90551"/>
                    <a:pt x="5054600" y="202184"/>
                  </a:cubicBezTo>
                  <a:lnTo>
                    <a:pt x="5054600" y="7417816"/>
                  </a:lnTo>
                  <a:cubicBezTo>
                    <a:pt x="5054600" y="7529449"/>
                    <a:pt x="4964049" y="7620000"/>
                    <a:pt x="4852416" y="7620000"/>
                  </a:cubicBezTo>
                  <a:lnTo>
                    <a:pt x="202184" y="7620000"/>
                  </a:lnTo>
                  <a:cubicBezTo>
                    <a:pt x="90551" y="7620000"/>
                    <a:pt x="0" y="7529449"/>
                    <a:pt x="0" y="7417816"/>
                  </a:cubicBezTo>
                  <a:close/>
                </a:path>
              </a:pathLst>
            </a:custGeom>
            <a:solidFill>
              <a:srgbClr val="ECE9E1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5581650" y="3133725"/>
            <a:ext cx="310515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b="true">
                <a:solidFill>
                  <a:srgbClr val="4A5568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Later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581650" y="3609975"/>
            <a:ext cx="310515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700" b="true">
                <a:solidFill>
                  <a:srgbClr val="1421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Manual processes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581650" y="4772025"/>
            <a:ext cx="310515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1950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High impact, but the brief does not say which processes are manual, so an MVP would rest on a guess.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58300" y="2857500"/>
            <a:ext cx="3790950" cy="5715000"/>
            <a:chOff x="0" y="0"/>
            <a:chExt cx="5054600" cy="762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0546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5054600">
                  <a:moveTo>
                    <a:pt x="0" y="202184"/>
                  </a:moveTo>
                  <a:cubicBezTo>
                    <a:pt x="0" y="90551"/>
                    <a:pt x="90551" y="0"/>
                    <a:pt x="202184" y="0"/>
                  </a:cubicBezTo>
                  <a:lnTo>
                    <a:pt x="4852416" y="0"/>
                  </a:lnTo>
                  <a:cubicBezTo>
                    <a:pt x="4964049" y="0"/>
                    <a:pt x="5054600" y="90551"/>
                    <a:pt x="5054600" y="202184"/>
                  </a:cubicBezTo>
                  <a:lnTo>
                    <a:pt x="5054600" y="7417816"/>
                  </a:lnTo>
                  <a:cubicBezTo>
                    <a:pt x="5054600" y="7529449"/>
                    <a:pt x="4964049" y="7620000"/>
                    <a:pt x="4852416" y="7620000"/>
                  </a:cubicBezTo>
                  <a:lnTo>
                    <a:pt x="202184" y="7620000"/>
                  </a:lnTo>
                  <a:cubicBezTo>
                    <a:pt x="90551" y="7620000"/>
                    <a:pt x="0" y="7529449"/>
                    <a:pt x="0" y="7417816"/>
                  </a:cubicBezTo>
                  <a:close/>
                </a:path>
              </a:pathLst>
            </a:custGeom>
            <a:solidFill>
              <a:srgbClr val="ECE9E1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601200" y="3133725"/>
            <a:ext cx="310515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b="true">
                <a:solidFill>
                  <a:srgbClr val="4A5568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Later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01200" y="3609975"/>
            <a:ext cx="310515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700" b="true">
                <a:solidFill>
                  <a:srgbClr val="1421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Inconsistent operations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01200" y="4772025"/>
            <a:ext cx="310515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1950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A symptom of different ways of working. Hard to show measurable impact quickly.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277850" y="2857500"/>
            <a:ext cx="3790950" cy="5715000"/>
            <a:chOff x="0" y="0"/>
            <a:chExt cx="5054600" cy="7620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546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5054600">
                  <a:moveTo>
                    <a:pt x="0" y="202184"/>
                  </a:moveTo>
                  <a:cubicBezTo>
                    <a:pt x="0" y="90551"/>
                    <a:pt x="90551" y="0"/>
                    <a:pt x="202184" y="0"/>
                  </a:cubicBezTo>
                  <a:lnTo>
                    <a:pt x="4852416" y="0"/>
                  </a:lnTo>
                  <a:cubicBezTo>
                    <a:pt x="4964049" y="0"/>
                    <a:pt x="5054600" y="90551"/>
                    <a:pt x="5054600" y="202184"/>
                  </a:cubicBezTo>
                  <a:lnTo>
                    <a:pt x="5054600" y="7417816"/>
                  </a:lnTo>
                  <a:cubicBezTo>
                    <a:pt x="5054600" y="7529449"/>
                    <a:pt x="4964049" y="7620000"/>
                    <a:pt x="4852416" y="7620000"/>
                  </a:cubicBezTo>
                  <a:lnTo>
                    <a:pt x="202184" y="7620000"/>
                  </a:lnTo>
                  <a:cubicBezTo>
                    <a:pt x="90551" y="7620000"/>
                    <a:pt x="0" y="7529449"/>
                    <a:pt x="0" y="7417816"/>
                  </a:cubicBezTo>
                  <a:close/>
                </a:path>
              </a:pathLst>
            </a:custGeom>
            <a:solidFill>
              <a:srgbClr val="14213D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620750" y="3133725"/>
            <a:ext cx="310515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b="true">
                <a:solidFill>
                  <a:srgbClr val="F0A35E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Prioritised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620750" y="3609975"/>
            <a:ext cx="310515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700" b="true">
                <a:solidFill>
                  <a:srgbClr val="F7F6F2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Delivery and fulfilment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620750" y="4772025"/>
            <a:ext cx="310515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1950">
                <a:solidFill>
                  <a:srgbClr val="C9D1E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Concrete, customer-facing and measurable. Works on top of existing systems, so it also starts to reduce fragmentation.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19200" y="9391650"/>
            <a:ext cx="142875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sz="1650">
                <a:solidFill>
                  <a:srgbClr val="6B7280"/>
                </a:solidFill>
                <a:latin typeface="IBM Plex Sans"/>
                <a:ea typeface="IBM Plex Sans"/>
                <a:cs typeface="IBM Plex Sans"/>
                <a:sym typeface="IBM Plex Sans"/>
              </a:rPr>
              <a:t>Team Old Men · Company A · Round 1 proposal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116300" y="9391650"/>
            <a:ext cx="9525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74"/>
              </a:lnSpc>
            </a:pPr>
            <a:r>
              <a:rPr lang="en-US" sz="1650">
                <a:solidFill>
                  <a:srgbClr val="6B7280"/>
                </a:solidFill>
                <a:latin typeface="IBM Plex Sans"/>
                <a:ea typeface="IBM Plex Sans"/>
                <a:cs typeface="IBM Plex Sans"/>
                <a:sym typeface="IBM Plex San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923925"/>
            <a:ext cx="1584960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b="true">
                <a:solidFill>
                  <a:srgbClr val="B8520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WHO EXPERIENCES IT AND WHY IT MATTERS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371600"/>
            <a:ext cx="1584960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500" b="true">
                <a:solidFill>
                  <a:srgbClr val="14213D"/>
                </a:solidFill>
                <a:latin typeface="Georgia Bold"/>
                <a:ea typeface="Georgia Bold"/>
                <a:cs typeface="Georgia Bold"/>
                <a:sym typeface="Georgia Bold"/>
              </a:rPr>
              <a:t>A broken delivery promise hurts three groups at once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19200" y="2952750"/>
            <a:ext cx="4978403" cy="57150"/>
            <a:chOff x="0" y="0"/>
            <a:chExt cx="6637871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37909" cy="76200"/>
            </a:xfrm>
            <a:custGeom>
              <a:avLst/>
              <a:gdLst/>
              <a:ahLst/>
              <a:cxnLst/>
              <a:rect r="r" b="b" t="t" l="l"/>
              <a:pathLst>
                <a:path h="76200" w="6637909">
                  <a:moveTo>
                    <a:pt x="0" y="0"/>
                  </a:moveTo>
                  <a:lnTo>
                    <a:pt x="6637909" y="0"/>
                  </a:lnTo>
                  <a:lnTo>
                    <a:pt x="6637909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B8520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19200" y="3248025"/>
            <a:ext cx="4978403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sz="3000" b="true">
                <a:solidFill>
                  <a:srgbClr val="1421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Customers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9200" y="4362450"/>
            <a:ext cx="4978403" cy="2781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4"/>
              </a:lnSpc>
            </a:pPr>
            <a:r>
              <a:rPr lang="en-US" sz="2100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Construction businesses lose a working day when materials arrive late or incomplete. Consumers wait without knowing why.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654803" y="2952750"/>
            <a:ext cx="4978403" cy="57150"/>
            <a:chOff x="0" y="0"/>
            <a:chExt cx="6637871" cy="76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37909" cy="76200"/>
            </a:xfrm>
            <a:custGeom>
              <a:avLst/>
              <a:gdLst/>
              <a:ahLst/>
              <a:cxnLst/>
              <a:rect r="r" b="b" t="t" l="l"/>
              <a:pathLst>
                <a:path h="76200" w="6637909">
                  <a:moveTo>
                    <a:pt x="0" y="0"/>
                  </a:moveTo>
                  <a:lnTo>
                    <a:pt x="6637909" y="0"/>
                  </a:lnTo>
                  <a:lnTo>
                    <a:pt x="6637909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B8520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654803" y="3248025"/>
            <a:ext cx="4978403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sz="3000" b="true">
                <a:solidFill>
                  <a:srgbClr val="1421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Store and distribution staff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54803" y="4362450"/>
            <a:ext cx="4978403" cy="2781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4"/>
              </a:lnSpc>
            </a:pPr>
            <a:r>
              <a:rPr lang="en-US" sz="2100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Answering “where is my order?” means checking several systems and calling colleagues and carriers.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2090397" y="2952750"/>
            <a:ext cx="4978403" cy="57150"/>
            <a:chOff x="0" y="0"/>
            <a:chExt cx="6637871" cy="76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637909" cy="76200"/>
            </a:xfrm>
            <a:custGeom>
              <a:avLst/>
              <a:gdLst/>
              <a:ahLst/>
              <a:cxnLst/>
              <a:rect r="r" b="b" t="t" l="l"/>
              <a:pathLst>
                <a:path h="76200" w="6637909">
                  <a:moveTo>
                    <a:pt x="0" y="0"/>
                  </a:moveTo>
                  <a:lnTo>
                    <a:pt x="6637909" y="0"/>
                  </a:lnTo>
                  <a:lnTo>
                    <a:pt x="6637909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B8520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090397" y="3248025"/>
            <a:ext cx="4978403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sz="3000" b="true">
                <a:solidFill>
                  <a:srgbClr val="1421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Management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90397" y="4362450"/>
            <a:ext cx="4978403" cy="2781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4"/>
              </a:lnSpc>
            </a:pPr>
            <a:r>
              <a:rPr lang="en-US" sz="2100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No shared view of delivery performance, so improvements in one country cannot be scaled to the others.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19200" y="7620000"/>
            <a:ext cx="15849600" cy="1047750"/>
            <a:chOff x="0" y="0"/>
            <a:chExt cx="21132800" cy="1397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1328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1132800">
                  <a:moveTo>
                    <a:pt x="0" y="167640"/>
                  </a:moveTo>
                  <a:cubicBezTo>
                    <a:pt x="0" y="75057"/>
                    <a:pt x="75057" y="0"/>
                    <a:pt x="167640" y="0"/>
                  </a:cubicBezTo>
                  <a:lnTo>
                    <a:pt x="20965161" y="0"/>
                  </a:lnTo>
                  <a:cubicBezTo>
                    <a:pt x="21057744" y="0"/>
                    <a:pt x="21132800" y="75057"/>
                    <a:pt x="21132800" y="167640"/>
                  </a:cubicBezTo>
                  <a:lnTo>
                    <a:pt x="21132800" y="1229360"/>
                  </a:lnTo>
                  <a:cubicBezTo>
                    <a:pt x="21132800" y="1321943"/>
                    <a:pt x="21057744" y="1397000"/>
                    <a:pt x="20965161" y="1397000"/>
                  </a:cubicBezTo>
                  <a:lnTo>
                    <a:pt x="167640" y="1397000"/>
                  </a:lnTo>
                  <a:cubicBezTo>
                    <a:pt x="75057" y="1397000"/>
                    <a:pt x="0" y="1321943"/>
                    <a:pt x="0" y="1229360"/>
                  </a:cubicBezTo>
                  <a:close/>
                </a:path>
              </a:pathLst>
            </a:custGeom>
            <a:solidFill>
              <a:srgbClr val="ECE9E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76200"/>
              <a:ext cx="21132800" cy="1473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510"/>
                </a:lnSpc>
              </a:pPr>
              <a:r>
                <a:rPr lang="en-US" sz="2250">
                  <a:solidFill>
                    <a:srgbClr val="14213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Reliability is what lets Company A compete and serve its customers effectively in a highly competitive market.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219200" y="9391650"/>
            <a:ext cx="142875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sz="1650">
                <a:solidFill>
                  <a:srgbClr val="6B7280"/>
                </a:solidFill>
                <a:latin typeface="IBM Plex Sans"/>
                <a:ea typeface="IBM Plex Sans"/>
                <a:cs typeface="IBM Plex Sans"/>
                <a:sym typeface="IBM Plex Sans"/>
              </a:rPr>
              <a:t>Team Old Men · Company A · Round 1 proposal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116300" y="9391650"/>
            <a:ext cx="9525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74"/>
              </a:lnSpc>
            </a:pPr>
            <a:r>
              <a:rPr lang="en-US" sz="1650">
                <a:solidFill>
                  <a:srgbClr val="6B7280"/>
                </a:solidFill>
                <a:latin typeface="IBM Plex Sans"/>
                <a:ea typeface="IBM Plex Sans"/>
                <a:cs typeface="IBM Plex Sans"/>
                <a:sym typeface="IBM Plex San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ECE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923925"/>
            <a:ext cx="1584960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b="true">
                <a:solidFill>
                  <a:srgbClr val="B8520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KEY ASSUMPTIONS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371600"/>
            <a:ext cx="1584960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500" b="true">
                <a:solidFill>
                  <a:srgbClr val="14213D"/>
                </a:solidFill>
                <a:latin typeface="Georgia Bold"/>
                <a:ea typeface="Georgia Bold"/>
                <a:cs typeface="Georgia Bold"/>
                <a:sym typeface="Georgia Bold"/>
              </a:rPr>
              <a:t>Where the brief is silent, we assume and justify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219200" y="2857500"/>
          <a:ext cx="15830550" cy="5486400"/>
        </p:xfrm>
        <a:graphic>
          <a:graphicData uri="http://schemas.openxmlformats.org/drawingml/2006/table">
            <a:tbl>
              <a:tblPr/>
              <a:tblGrid>
                <a:gridCol w="8231886"/>
                <a:gridCol w="7598664"/>
              </a:tblGrid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7F6F2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Assumption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7F6F2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Why it is reasonable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One order is often fulfilled from several sources: store, warehouse, supplier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The brief separates store and distribution operations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Order, stock, purchasing and transport data sit in systems that do not share data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Follows from each country building its own systems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Most delays start before the truck leaves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An order can only leave on time if every part is ready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Every system can at least export order and delivery data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Standard for retail order and finance systems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Sweden feels fulfilment pain the most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Matches the brief’s own example for Sweden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219200" y="9391650"/>
            <a:ext cx="142875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sz="1650">
                <a:solidFill>
                  <a:srgbClr val="6B7280"/>
                </a:solidFill>
                <a:latin typeface="IBM Plex Sans"/>
                <a:ea typeface="IBM Plex Sans"/>
                <a:cs typeface="IBM Plex Sans"/>
                <a:sym typeface="IBM Plex Sans"/>
              </a:rPr>
              <a:t>Team Old Men · Company A · Round 1 proposal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116300" y="9391650"/>
            <a:ext cx="9525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74"/>
              </a:lnSpc>
            </a:pPr>
            <a:r>
              <a:rPr lang="en-US" sz="1650">
                <a:solidFill>
                  <a:srgbClr val="6B7280"/>
                </a:solidFill>
                <a:latin typeface="IBM Plex Sans"/>
                <a:ea typeface="IBM Plex Sans"/>
                <a:cs typeface="IBM Plex Sans"/>
                <a:sym typeface="IBM Plex San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923925"/>
            <a:ext cx="1584960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b="true">
                <a:solidFill>
                  <a:srgbClr val="B8520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PROPOSED SOLUTION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371600"/>
            <a:ext cx="1584960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500" b="true">
                <a:solidFill>
                  <a:srgbClr val="14213D"/>
                </a:solidFill>
                <a:latin typeface="Georgia Bold"/>
                <a:ea typeface="Georgia Bold"/>
                <a:cs typeface="Georgia Bold"/>
                <a:sym typeface="Georgia Bold"/>
              </a:rPr>
              <a:t>A control layer that joins, checks and acts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19200" y="2943225"/>
            <a:ext cx="30480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b="true">
                <a:solidFill>
                  <a:srgbClr val="4A5568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Existing systems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219200" y="3448050"/>
            <a:ext cx="2857500" cy="666750"/>
            <a:chOff x="0" y="0"/>
            <a:chExt cx="3810000" cy="889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10000" cy="889000"/>
            </a:xfrm>
            <a:custGeom>
              <a:avLst/>
              <a:gdLst/>
              <a:ahLst/>
              <a:cxnLst/>
              <a:rect r="r" b="b" t="t" l="l"/>
              <a:pathLst>
                <a:path h="889000" w="3810000">
                  <a:moveTo>
                    <a:pt x="0" y="106680"/>
                  </a:moveTo>
                  <a:cubicBezTo>
                    <a:pt x="0" y="47752"/>
                    <a:pt x="47752" y="0"/>
                    <a:pt x="106680" y="0"/>
                  </a:cubicBezTo>
                  <a:lnTo>
                    <a:pt x="3703320" y="0"/>
                  </a:lnTo>
                  <a:cubicBezTo>
                    <a:pt x="3762248" y="0"/>
                    <a:pt x="3810000" y="47752"/>
                    <a:pt x="3810000" y="106680"/>
                  </a:cubicBezTo>
                  <a:lnTo>
                    <a:pt x="3810000" y="782320"/>
                  </a:lnTo>
                  <a:cubicBezTo>
                    <a:pt x="3810000" y="841248"/>
                    <a:pt x="3762248" y="889000"/>
                    <a:pt x="3703320" y="889000"/>
                  </a:cubicBezTo>
                  <a:lnTo>
                    <a:pt x="106680" y="889000"/>
                  </a:lnTo>
                  <a:cubicBezTo>
                    <a:pt x="47752" y="889000"/>
                    <a:pt x="0" y="841248"/>
                    <a:pt x="0" y="782320"/>
                  </a:cubicBezTo>
                  <a:close/>
                </a:path>
              </a:pathLst>
            </a:custGeom>
            <a:solidFill>
              <a:srgbClr val="ECE9E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3810000" cy="955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14213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Order system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9200" y="4248150"/>
            <a:ext cx="2857500" cy="666750"/>
            <a:chOff x="0" y="0"/>
            <a:chExt cx="3810000" cy="889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10000" cy="889000"/>
            </a:xfrm>
            <a:custGeom>
              <a:avLst/>
              <a:gdLst/>
              <a:ahLst/>
              <a:cxnLst/>
              <a:rect r="r" b="b" t="t" l="l"/>
              <a:pathLst>
                <a:path h="889000" w="3810000">
                  <a:moveTo>
                    <a:pt x="0" y="106680"/>
                  </a:moveTo>
                  <a:cubicBezTo>
                    <a:pt x="0" y="47752"/>
                    <a:pt x="47752" y="0"/>
                    <a:pt x="106680" y="0"/>
                  </a:cubicBezTo>
                  <a:lnTo>
                    <a:pt x="3703320" y="0"/>
                  </a:lnTo>
                  <a:cubicBezTo>
                    <a:pt x="3762248" y="0"/>
                    <a:pt x="3810000" y="47752"/>
                    <a:pt x="3810000" y="106680"/>
                  </a:cubicBezTo>
                  <a:lnTo>
                    <a:pt x="3810000" y="782320"/>
                  </a:lnTo>
                  <a:cubicBezTo>
                    <a:pt x="3810000" y="841248"/>
                    <a:pt x="3762248" y="889000"/>
                    <a:pt x="3703320" y="889000"/>
                  </a:cubicBezTo>
                  <a:lnTo>
                    <a:pt x="106680" y="889000"/>
                  </a:lnTo>
                  <a:cubicBezTo>
                    <a:pt x="47752" y="889000"/>
                    <a:pt x="0" y="841248"/>
                    <a:pt x="0" y="782320"/>
                  </a:cubicBezTo>
                  <a:close/>
                </a:path>
              </a:pathLst>
            </a:custGeom>
            <a:solidFill>
              <a:srgbClr val="ECE9E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3810000" cy="955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14213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Stock and warehouse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19200" y="5048250"/>
            <a:ext cx="2857500" cy="666750"/>
            <a:chOff x="0" y="0"/>
            <a:chExt cx="3810000" cy="889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10000" cy="889000"/>
            </a:xfrm>
            <a:custGeom>
              <a:avLst/>
              <a:gdLst/>
              <a:ahLst/>
              <a:cxnLst/>
              <a:rect r="r" b="b" t="t" l="l"/>
              <a:pathLst>
                <a:path h="889000" w="3810000">
                  <a:moveTo>
                    <a:pt x="0" y="106680"/>
                  </a:moveTo>
                  <a:cubicBezTo>
                    <a:pt x="0" y="47752"/>
                    <a:pt x="47752" y="0"/>
                    <a:pt x="106680" y="0"/>
                  </a:cubicBezTo>
                  <a:lnTo>
                    <a:pt x="3703320" y="0"/>
                  </a:lnTo>
                  <a:cubicBezTo>
                    <a:pt x="3762248" y="0"/>
                    <a:pt x="3810000" y="47752"/>
                    <a:pt x="3810000" y="106680"/>
                  </a:cubicBezTo>
                  <a:lnTo>
                    <a:pt x="3810000" y="782320"/>
                  </a:lnTo>
                  <a:cubicBezTo>
                    <a:pt x="3810000" y="841248"/>
                    <a:pt x="3762248" y="889000"/>
                    <a:pt x="3703320" y="889000"/>
                  </a:cubicBezTo>
                  <a:lnTo>
                    <a:pt x="106680" y="889000"/>
                  </a:lnTo>
                  <a:cubicBezTo>
                    <a:pt x="47752" y="889000"/>
                    <a:pt x="0" y="841248"/>
                    <a:pt x="0" y="782320"/>
                  </a:cubicBezTo>
                  <a:close/>
                </a:path>
              </a:pathLst>
            </a:custGeom>
            <a:solidFill>
              <a:srgbClr val="ECE9E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3810000" cy="955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14213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Purchasing and suppliers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19200" y="5848350"/>
            <a:ext cx="2857500" cy="666750"/>
            <a:chOff x="0" y="0"/>
            <a:chExt cx="3810000" cy="889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10000" cy="889000"/>
            </a:xfrm>
            <a:custGeom>
              <a:avLst/>
              <a:gdLst/>
              <a:ahLst/>
              <a:cxnLst/>
              <a:rect r="r" b="b" t="t" l="l"/>
              <a:pathLst>
                <a:path h="889000" w="3810000">
                  <a:moveTo>
                    <a:pt x="0" y="106680"/>
                  </a:moveTo>
                  <a:cubicBezTo>
                    <a:pt x="0" y="47752"/>
                    <a:pt x="47752" y="0"/>
                    <a:pt x="106680" y="0"/>
                  </a:cubicBezTo>
                  <a:lnTo>
                    <a:pt x="3703320" y="0"/>
                  </a:lnTo>
                  <a:cubicBezTo>
                    <a:pt x="3762248" y="0"/>
                    <a:pt x="3810000" y="47752"/>
                    <a:pt x="3810000" y="106680"/>
                  </a:cubicBezTo>
                  <a:lnTo>
                    <a:pt x="3810000" y="782320"/>
                  </a:lnTo>
                  <a:cubicBezTo>
                    <a:pt x="3810000" y="841248"/>
                    <a:pt x="3762248" y="889000"/>
                    <a:pt x="3703320" y="889000"/>
                  </a:cubicBezTo>
                  <a:lnTo>
                    <a:pt x="106680" y="889000"/>
                  </a:lnTo>
                  <a:cubicBezTo>
                    <a:pt x="47752" y="889000"/>
                    <a:pt x="0" y="841248"/>
                    <a:pt x="0" y="782320"/>
                  </a:cubicBezTo>
                  <a:close/>
                </a:path>
              </a:pathLst>
            </a:custGeom>
            <a:solidFill>
              <a:srgbClr val="ECE9E1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3810000" cy="955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14213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Transport and carriers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267200" y="5048250"/>
            <a:ext cx="457200" cy="285750"/>
            <a:chOff x="0" y="0"/>
            <a:chExt cx="609600" cy="381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09600" cy="381000"/>
            </a:xfrm>
            <a:custGeom>
              <a:avLst/>
              <a:gdLst/>
              <a:ahLst/>
              <a:cxnLst/>
              <a:rect r="r" b="b" t="t" l="l"/>
              <a:pathLst>
                <a:path h="381000" w="609600">
                  <a:moveTo>
                    <a:pt x="0" y="95250"/>
                  </a:moveTo>
                  <a:lnTo>
                    <a:pt x="419100" y="95250"/>
                  </a:lnTo>
                  <a:lnTo>
                    <a:pt x="419100" y="0"/>
                  </a:lnTo>
                  <a:lnTo>
                    <a:pt x="609600" y="190500"/>
                  </a:lnTo>
                  <a:lnTo>
                    <a:pt x="419100" y="381000"/>
                  </a:lnTo>
                  <a:lnTo>
                    <a:pt x="419100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B8520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4900612" y="3986212"/>
            <a:ext cx="2409825" cy="2409825"/>
            <a:chOff x="0" y="0"/>
            <a:chExt cx="3213100" cy="3213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213100" cy="3213100"/>
            </a:xfrm>
            <a:custGeom>
              <a:avLst/>
              <a:gdLst/>
              <a:ahLst/>
              <a:cxnLst/>
              <a:rect r="r" b="b" t="t" l="l"/>
              <a:pathLst>
                <a:path h="3213100" w="3213100">
                  <a:moveTo>
                    <a:pt x="0" y="192786"/>
                  </a:moveTo>
                  <a:cubicBezTo>
                    <a:pt x="0" y="86360"/>
                    <a:pt x="86360" y="0"/>
                    <a:pt x="192786" y="0"/>
                  </a:cubicBezTo>
                  <a:lnTo>
                    <a:pt x="3020314" y="0"/>
                  </a:lnTo>
                  <a:cubicBezTo>
                    <a:pt x="3126740" y="0"/>
                    <a:pt x="3213100" y="86360"/>
                    <a:pt x="3213100" y="192786"/>
                  </a:cubicBezTo>
                  <a:lnTo>
                    <a:pt x="3213100" y="3020314"/>
                  </a:lnTo>
                  <a:cubicBezTo>
                    <a:pt x="3213100" y="3126740"/>
                    <a:pt x="3126740" y="3213100"/>
                    <a:pt x="3020314" y="3213100"/>
                  </a:cubicBezTo>
                  <a:lnTo>
                    <a:pt x="192786" y="3213100"/>
                  </a:lnTo>
                  <a:cubicBezTo>
                    <a:pt x="86360" y="3213100"/>
                    <a:pt x="0" y="3126740"/>
                    <a:pt x="0" y="3020314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28575" cap="sq">
              <a:solidFill>
                <a:srgbClr val="14213D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85725"/>
              <a:ext cx="3213100" cy="3298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744"/>
                </a:lnSpc>
              </a:pPr>
              <a:r>
                <a:rPr lang="en-US" sz="2400" b="true">
                  <a:solidFill>
                    <a:srgbClr val="14213D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Country adapter</a:t>
              </a:r>
            </a:p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4A556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Reads and maps local data. One per country.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486650" y="5048250"/>
            <a:ext cx="457200" cy="285750"/>
            <a:chOff x="0" y="0"/>
            <a:chExt cx="609600" cy="381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09600" cy="381000"/>
            </a:xfrm>
            <a:custGeom>
              <a:avLst/>
              <a:gdLst/>
              <a:ahLst/>
              <a:cxnLst/>
              <a:rect r="r" b="b" t="t" l="l"/>
              <a:pathLst>
                <a:path h="381000" w="609600">
                  <a:moveTo>
                    <a:pt x="0" y="95250"/>
                  </a:moveTo>
                  <a:lnTo>
                    <a:pt x="419100" y="95250"/>
                  </a:lnTo>
                  <a:lnTo>
                    <a:pt x="419100" y="0"/>
                  </a:lnTo>
                  <a:lnTo>
                    <a:pt x="609600" y="190500"/>
                  </a:lnTo>
                  <a:lnTo>
                    <a:pt x="419100" y="381000"/>
                  </a:lnTo>
                  <a:lnTo>
                    <a:pt x="419100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B8520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134350" y="3143250"/>
            <a:ext cx="4000500" cy="3905250"/>
            <a:chOff x="0" y="0"/>
            <a:chExt cx="5334000" cy="5207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334000" cy="5207000"/>
            </a:xfrm>
            <a:custGeom>
              <a:avLst/>
              <a:gdLst/>
              <a:ahLst/>
              <a:cxnLst/>
              <a:rect r="r" b="b" t="t" l="l"/>
              <a:pathLst>
                <a:path h="5207000" w="5334000">
                  <a:moveTo>
                    <a:pt x="0" y="260350"/>
                  </a:moveTo>
                  <a:cubicBezTo>
                    <a:pt x="0" y="116586"/>
                    <a:pt x="116586" y="0"/>
                    <a:pt x="260350" y="0"/>
                  </a:cubicBezTo>
                  <a:lnTo>
                    <a:pt x="5073650" y="0"/>
                  </a:lnTo>
                  <a:cubicBezTo>
                    <a:pt x="5217414" y="0"/>
                    <a:pt x="5334000" y="116586"/>
                    <a:pt x="5334000" y="260350"/>
                  </a:cubicBezTo>
                  <a:lnTo>
                    <a:pt x="5334000" y="4946650"/>
                  </a:lnTo>
                  <a:cubicBezTo>
                    <a:pt x="5334000" y="5090414"/>
                    <a:pt x="5217414" y="5207000"/>
                    <a:pt x="5073650" y="5207000"/>
                  </a:cubicBezTo>
                  <a:lnTo>
                    <a:pt x="260350" y="5207000"/>
                  </a:lnTo>
                  <a:cubicBezTo>
                    <a:pt x="116586" y="5207000"/>
                    <a:pt x="0" y="5090414"/>
                    <a:pt x="0" y="4946650"/>
                  </a:cubicBezTo>
                  <a:close/>
                </a:path>
              </a:pathLst>
            </a:custGeom>
            <a:solidFill>
              <a:srgbClr val="14213D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8439150" y="3362325"/>
            <a:ext cx="33909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b="true">
                <a:solidFill>
                  <a:srgbClr val="F0A35E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Shared core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439150" y="3924300"/>
            <a:ext cx="3390900" cy="838200"/>
            <a:chOff x="0" y="0"/>
            <a:chExt cx="4521200" cy="1117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521200" cy="1117600"/>
            </a:xfrm>
            <a:custGeom>
              <a:avLst/>
              <a:gdLst/>
              <a:ahLst/>
              <a:cxnLst/>
              <a:rect r="r" b="b" t="t" l="l"/>
              <a:pathLst>
                <a:path h="1117600" w="4521200">
                  <a:moveTo>
                    <a:pt x="0" y="111760"/>
                  </a:moveTo>
                  <a:cubicBezTo>
                    <a:pt x="0" y="50038"/>
                    <a:pt x="50038" y="0"/>
                    <a:pt x="111760" y="0"/>
                  </a:cubicBezTo>
                  <a:lnTo>
                    <a:pt x="4409440" y="0"/>
                  </a:lnTo>
                  <a:cubicBezTo>
                    <a:pt x="4471162" y="0"/>
                    <a:pt x="4521200" y="50038"/>
                    <a:pt x="4521200" y="111760"/>
                  </a:cubicBezTo>
                  <a:lnTo>
                    <a:pt x="4521200" y="1005840"/>
                  </a:lnTo>
                  <a:cubicBezTo>
                    <a:pt x="4521200" y="1067562"/>
                    <a:pt x="4471162" y="1117600"/>
                    <a:pt x="4409440" y="1117600"/>
                  </a:cubicBezTo>
                  <a:lnTo>
                    <a:pt x="111760" y="1117600"/>
                  </a:lnTo>
                  <a:cubicBezTo>
                    <a:pt x="50038" y="1117600"/>
                    <a:pt x="0" y="1067562"/>
                    <a:pt x="0" y="1005840"/>
                  </a:cubicBezTo>
                  <a:close/>
                </a:path>
              </a:pathLst>
            </a:custGeom>
            <a:solidFill>
              <a:srgbClr val="23345A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4521200" cy="1184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042"/>
                </a:lnSpc>
              </a:pPr>
              <a:r>
                <a:rPr lang="en-US" sz="1950" b="true">
                  <a:solidFill>
                    <a:srgbClr val="F7F6F2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Join: one timeline per order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439150" y="4914900"/>
            <a:ext cx="3390900" cy="838200"/>
            <a:chOff x="0" y="0"/>
            <a:chExt cx="4521200" cy="11176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521200" cy="1117600"/>
            </a:xfrm>
            <a:custGeom>
              <a:avLst/>
              <a:gdLst/>
              <a:ahLst/>
              <a:cxnLst/>
              <a:rect r="r" b="b" t="t" l="l"/>
              <a:pathLst>
                <a:path h="1117600" w="4521200">
                  <a:moveTo>
                    <a:pt x="0" y="111760"/>
                  </a:moveTo>
                  <a:cubicBezTo>
                    <a:pt x="0" y="50038"/>
                    <a:pt x="50038" y="0"/>
                    <a:pt x="111760" y="0"/>
                  </a:cubicBezTo>
                  <a:lnTo>
                    <a:pt x="4409440" y="0"/>
                  </a:lnTo>
                  <a:cubicBezTo>
                    <a:pt x="4471162" y="0"/>
                    <a:pt x="4521200" y="50038"/>
                    <a:pt x="4521200" y="111760"/>
                  </a:cubicBezTo>
                  <a:lnTo>
                    <a:pt x="4521200" y="1005840"/>
                  </a:lnTo>
                  <a:cubicBezTo>
                    <a:pt x="4521200" y="1067562"/>
                    <a:pt x="4471162" y="1117600"/>
                    <a:pt x="4409440" y="1117600"/>
                  </a:cubicBezTo>
                  <a:lnTo>
                    <a:pt x="111760" y="1117600"/>
                  </a:lnTo>
                  <a:cubicBezTo>
                    <a:pt x="50038" y="1117600"/>
                    <a:pt x="0" y="1067562"/>
                    <a:pt x="0" y="1005840"/>
                  </a:cubicBezTo>
                  <a:close/>
                </a:path>
              </a:pathLst>
            </a:custGeom>
            <a:solidFill>
              <a:srgbClr val="23345A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4521200" cy="1184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042"/>
                </a:lnSpc>
              </a:pPr>
              <a:r>
                <a:rPr lang="en-US" sz="1950" b="true">
                  <a:solidFill>
                    <a:srgbClr val="F7F6F2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Check: flag orders at risk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439150" y="5905500"/>
            <a:ext cx="3390900" cy="838200"/>
            <a:chOff x="0" y="0"/>
            <a:chExt cx="4521200" cy="11176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521200" cy="1117600"/>
            </a:xfrm>
            <a:custGeom>
              <a:avLst/>
              <a:gdLst/>
              <a:ahLst/>
              <a:cxnLst/>
              <a:rect r="r" b="b" t="t" l="l"/>
              <a:pathLst>
                <a:path h="1117600" w="4521200">
                  <a:moveTo>
                    <a:pt x="0" y="111760"/>
                  </a:moveTo>
                  <a:cubicBezTo>
                    <a:pt x="0" y="50038"/>
                    <a:pt x="50038" y="0"/>
                    <a:pt x="111760" y="0"/>
                  </a:cubicBezTo>
                  <a:lnTo>
                    <a:pt x="4409440" y="0"/>
                  </a:lnTo>
                  <a:cubicBezTo>
                    <a:pt x="4471162" y="0"/>
                    <a:pt x="4521200" y="50038"/>
                    <a:pt x="4521200" y="111760"/>
                  </a:cubicBezTo>
                  <a:lnTo>
                    <a:pt x="4521200" y="1005840"/>
                  </a:lnTo>
                  <a:cubicBezTo>
                    <a:pt x="4521200" y="1067562"/>
                    <a:pt x="4471162" y="1117600"/>
                    <a:pt x="4409440" y="1117600"/>
                  </a:cubicBezTo>
                  <a:lnTo>
                    <a:pt x="111760" y="1117600"/>
                  </a:lnTo>
                  <a:cubicBezTo>
                    <a:pt x="50038" y="1117600"/>
                    <a:pt x="0" y="1067562"/>
                    <a:pt x="0" y="1005840"/>
                  </a:cubicBezTo>
                  <a:close/>
                </a:path>
              </a:pathLst>
            </a:custGeom>
            <a:solidFill>
              <a:srgbClr val="23345A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66675"/>
              <a:ext cx="4521200" cy="1184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042"/>
                </a:lnSpc>
              </a:pPr>
              <a:r>
                <a:rPr lang="en-US" sz="1950" b="true">
                  <a:solidFill>
                    <a:srgbClr val="F7F6F2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Act: task and customer alert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325350" y="5048250"/>
            <a:ext cx="457200" cy="285750"/>
            <a:chOff x="0" y="0"/>
            <a:chExt cx="609600" cy="381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09600" cy="381000"/>
            </a:xfrm>
            <a:custGeom>
              <a:avLst/>
              <a:gdLst/>
              <a:ahLst/>
              <a:cxnLst/>
              <a:rect r="r" b="b" t="t" l="l"/>
              <a:pathLst>
                <a:path h="381000" w="609600">
                  <a:moveTo>
                    <a:pt x="0" y="95250"/>
                  </a:moveTo>
                  <a:lnTo>
                    <a:pt x="419100" y="95250"/>
                  </a:lnTo>
                  <a:lnTo>
                    <a:pt x="419100" y="0"/>
                  </a:lnTo>
                  <a:lnTo>
                    <a:pt x="609600" y="190500"/>
                  </a:lnTo>
                  <a:lnTo>
                    <a:pt x="419100" y="381000"/>
                  </a:lnTo>
                  <a:lnTo>
                    <a:pt x="419100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B8520F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2973050" y="2943225"/>
            <a:ext cx="409575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b="true">
                <a:solidFill>
                  <a:srgbClr val="4A5568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Outputs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2963525" y="3438525"/>
            <a:ext cx="4114800" cy="685800"/>
            <a:chOff x="0" y="0"/>
            <a:chExt cx="5486400" cy="914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486400" cy="914400"/>
            </a:xfrm>
            <a:custGeom>
              <a:avLst/>
              <a:gdLst/>
              <a:ahLst/>
              <a:cxnLst/>
              <a:rect r="r" b="b" t="t" l="l"/>
              <a:pathLst>
                <a:path h="914400" w="548640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5376672" y="0"/>
                  </a:lnTo>
                  <a:cubicBezTo>
                    <a:pt x="5437251" y="0"/>
                    <a:pt x="5486400" y="49149"/>
                    <a:pt x="5486400" y="109728"/>
                  </a:cubicBezTo>
                  <a:lnTo>
                    <a:pt x="5486400" y="804672"/>
                  </a:lnTo>
                  <a:cubicBezTo>
                    <a:pt x="5486400" y="865251"/>
                    <a:pt x="5437251" y="914400"/>
                    <a:pt x="5376672" y="914400"/>
                  </a:cubicBezTo>
                  <a:lnTo>
                    <a:pt x="109728" y="914400"/>
                  </a:lnTo>
                  <a:cubicBezTo>
                    <a:pt x="49149" y="914400"/>
                    <a:pt x="0" y="865251"/>
                    <a:pt x="0" y="804672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  <a:ln w="19050" cap="sq">
              <a:solidFill>
                <a:srgbClr val="B8520F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66675"/>
              <a:ext cx="5486400" cy="981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14213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Exception queue for stores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963525" y="4238625"/>
            <a:ext cx="4114800" cy="685800"/>
            <a:chOff x="0" y="0"/>
            <a:chExt cx="5486400" cy="914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486400" cy="914400"/>
            </a:xfrm>
            <a:custGeom>
              <a:avLst/>
              <a:gdLst/>
              <a:ahLst/>
              <a:cxnLst/>
              <a:rect r="r" b="b" t="t" l="l"/>
              <a:pathLst>
                <a:path h="914400" w="548640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5376672" y="0"/>
                  </a:lnTo>
                  <a:cubicBezTo>
                    <a:pt x="5437251" y="0"/>
                    <a:pt x="5486400" y="49149"/>
                    <a:pt x="5486400" y="109728"/>
                  </a:cubicBezTo>
                  <a:lnTo>
                    <a:pt x="5486400" y="804672"/>
                  </a:lnTo>
                  <a:cubicBezTo>
                    <a:pt x="5486400" y="865251"/>
                    <a:pt x="5437251" y="914400"/>
                    <a:pt x="5376672" y="914400"/>
                  </a:cubicBezTo>
                  <a:lnTo>
                    <a:pt x="109728" y="914400"/>
                  </a:lnTo>
                  <a:cubicBezTo>
                    <a:pt x="49149" y="914400"/>
                    <a:pt x="0" y="865251"/>
                    <a:pt x="0" y="804672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  <a:ln w="19050" cap="sq">
              <a:solidFill>
                <a:srgbClr val="B8520F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66675"/>
              <a:ext cx="5486400" cy="981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14213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Order lookup for staff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963525" y="5038725"/>
            <a:ext cx="4114800" cy="685800"/>
            <a:chOff x="0" y="0"/>
            <a:chExt cx="5486400" cy="914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486400" cy="914400"/>
            </a:xfrm>
            <a:custGeom>
              <a:avLst/>
              <a:gdLst/>
              <a:ahLst/>
              <a:cxnLst/>
              <a:rect r="r" b="b" t="t" l="l"/>
              <a:pathLst>
                <a:path h="914400" w="548640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5376672" y="0"/>
                  </a:lnTo>
                  <a:cubicBezTo>
                    <a:pt x="5437251" y="0"/>
                    <a:pt x="5486400" y="49149"/>
                    <a:pt x="5486400" y="109728"/>
                  </a:cubicBezTo>
                  <a:lnTo>
                    <a:pt x="5486400" y="804672"/>
                  </a:lnTo>
                  <a:cubicBezTo>
                    <a:pt x="5486400" y="865251"/>
                    <a:pt x="5437251" y="914400"/>
                    <a:pt x="5376672" y="914400"/>
                  </a:cubicBezTo>
                  <a:lnTo>
                    <a:pt x="109728" y="914400"/>
                  </a:lnTo>
                  <a:cubicBezTo>
                    <a:pt x="49149" y="914400"/>
                    <a:pt x="0" y="865251"/>
                    <a:pt x="0" y="804672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  <a:ln w="19050" cap="sq">
              <a:solidFill>
                <a:srgbClr val="B8520F"/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66675"/>
              <a:ext cx="5486400" cy="981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14213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Proactive customer updates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963525" y="5838825"/>
            <a:ext cx="4114800" cy="685800"/>
            <a:chOff x="0" y="0"/>
            <a:chExt cx="5486400" cy="9144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486400" cy="914400"/>
            </a:xfrm>
            <a:custGeom>
              <a:avLst/>
              <a:gdLst/>
              <a:ahLst/>
              <a:cxnLst/>
              <a:rect r="r" b="b" t="t" l="l"/>
              <a:pathLst>
                <a:path h="914400" w="548640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5376672" y="0"/>
                  </a:lnTo>
                  <a:cubicBezTo>
                    <a:pt x="5437251" y="0"/>
                    <a:pt x="5486400" y="49149"/>
                    <a:pt x="5486400" y="109728"/>
                  </a:cubicBezTo>
                  <a:lnTo>
                    <a:pt x="5486400" y="804672"/>
                  </a:lnTo>
                  <a:cubicBezTo>
                    <a:pt x="5486400" y="865251"/>
                    <a:pt x="5437251" y="914400"/>
                    <a:pt x="5376672" y="914400"/>
                  </a:cubicBezTo>
                  <a:lnTo>
                    <a:pt x="109728" y="914400"/>
                  </a:lnTo>
                  <a:cubicBezTo>
                    <a:pt x="49149" y="914400"/>
                    <a:pt x="0" y="865251"/>
                    <a:pt x="0" y="804672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  <a:ln w="19050" cap="sq">
              <a:solidFill>
                <a:srgbClr val="B8520F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66675"/>
              <a:ext cx="5486400" cy="981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14213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KPI view for management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219200" y="7620000"/>
            <a:ext cx="7810500" cy="1143000"/>
            <a:chOff x="0" y="0"/>
            <a:chExt cx="10414000" cy="15240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41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04140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10261600" y="0"/>
                  </a:lnTo>
                  <a:cubicBezTo>
                    <a:pt x="10345801" y="0"/>
                    <a:pt x="10414000" y="68199"/>
                    <a:pt x="10414000" y="152400"/>
                  </a:cubicBezTo>
                  <a:lnTo>
                    <a:pt x="10414000" y="1371600"/>
                  </a:lnTo>
                  <a:cubicBezTo>
                    <a:pt x="10414000" y="1455801"/>
                    <a:pt x="10345801" y="1524000"/>
                    <a:pt x="10261600" y="1524000"/>
                  </a:cubicBezTo>
                  <a:lnTo>
                    <a:pt x="152400" y="1524000"/>
                  </a:lnTo>
                  <a:cubicBezTo>
                    <a:pt x="68199" y="1524000"/>
                    <a:pt x="0" y="1455801"/>
                    <a:pt x="0" y="1371600"/>
                  </a:cubicBezTo>
                  <a:close/>
                </a:path>
              </a:pathLst>
            </a:custGeom>
            <a:solidFill>
              <a:srgbClr val="ECE9E1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66675"/>
              <a:ext cx="10414000" cy="1590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042"/>
                </a:lnSpc>
              </a:pPr>
              <a:r>
                <a:rPr lang="en-US" sz="1950" b="true">
                  <a:solidFill>
                    <a:srgbClr val="14213D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One strategic solution: </a:t>
              </a:r>
              <a:r>
                <a:rPr lang="en-US" sz="1950">
                  <a:solidFill>
                    <a:srgbClr val="14213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the same model, risk check and user features in every market.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258300" y="7620000"/>
            <a:ext cx="7810500" cy="1143000"/>
            <a:chOff x="0" y="0"/>
            <a:chExt cx="10414000" cy="15240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41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04140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10261600" y="0"/>
                  </a:lnTo>
                  <a:cubicBezTo>
                    <a:pt x="10345801" y="0"/>
                    <a:pt x="10414000" y="68199"/>
                    <a:pt x="10414000" y="152400"/>
                  </a:cubicBezTo>
                  <a:lnTo>
                    <a:pt x="10414000" y="1371600"/>
                  </a:lnTo>
                  <a:cubicBezTo>
                    <a:pt x="10414000" y="1455801"/>
                    <a:pt x="10345801" y="1524000"/>
                    <a:pt x="10261600" y="1524000"/>
                  </a:cubicBezTo>
                  <a:lnTo>
                    <a:pt x="152400" y="1524000"/>
                  </a:lnTo>
                  <a:cubicBezTo>
                    <a:pt x="68199" y="1524000"/>
                    <a:pt x="0" y="1455801"/>
                    <a:pt x="0" y="1371600"/>
                  </a:cubicBezTo>
                  <a:close/>
                </a:path>
              </a:pathLst>
            </a:custGeom>
            <a:solidFill>
              <a:srgbClr val="ECE9E1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66675"/>
              <a:ext cx="10414000" cy="1590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042"/>
                </a:lnSpc>
              </a:pPr>
              <a:r>
                <a:rPr lang="en-US" sz="1950" b="true">
                  <a:solidFill>
                    <a:srgbClr val="14213D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Not one identical implementation: </a:t>
              </a:r>
              <a:r>
                <a:rPr lang="en-US" sz="1950">
                  <a:solidFill>
                    <a:srgbClr val="14213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local adapters, cut-off times, language and channels.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219200" y="9391650"/>
            <a:ext cx="142875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sz="1650">
                <a:solidFill>
                  <a:srgbClr val="6B7280"/>
                </a:solidFill>
                <a:latin typeface="IBM Plex Sans"/>
                <a:ea typeface="IBM Plex Sans"/>
                <a:cs typeface="IBM Plex Sans"/>
                <a:sym typeface="IBM Plex Sans"/>
              </a:rPr>
              <a:t>Team Old Men · Company A · Round 1 proposal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6116300" y="9391650"/>
            <a:ext cx="9525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74"/>
              </a:lnSpc>
            </a:pPr>
            <a:r>
              <a:rPr lang="en-US" sz="1650">
                <a:solidFill>
                  <a:srgbClr val="6B7280"/>
                </a:solidFill>
                <a:latin typeface="IBM Plex Sans"/>
                <a:ea typeface="IBM Plex Sans"/>
                <a:cs typeface="IBM Plex Sans"/>
                <a:sym typeface="IBM Plex San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923925"/>
            <a:ext cx="1584960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b="true">
                <a:solidFill>
                  <a:srgbClr val="B8520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HOW IT WORKS: ONE ORDER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371600"/>
            <a:ext cx="1584960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500" b="true">
                <a:solidFill>
                  <a:srgbClr val="14213D"/>
                </a:solidFill>
                <a:latin typeface="Georgia Bold"/>
                <a:ea typeface="Georgia Bold"/>
                <a:cs typeface="Georgia Bold"/>
                <a:sym typeface="Georgia Bold"/>
              </a:rPr>
              <a:t>Order 1001 is caught two days before it fails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19200" y="2828925"/>
            <a:ext cx="933450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2"/>
              </a:lnSpc>
            </a:pPr>
            <a:r>
              <a:rPr lang="en-US" sz="1950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Promised to a construction customer for Wednesday</a:t>
            </a:r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219200" y="3390900"/>
          <a:ext cx="9296400" cy="3200400"/>
        </p:xfrm>
        <a:graphic>
          <a:graphicData uri="http://schemas.openxmlformats.org/drawingml/2006/table">
            <a:tbl>
              <a:tblPr/>
              <a:tblGrid>
                <a:gridCol w="1115568"/>
                <a:gridCol w="2788920"/>
                <a:gridCol w="3160776"/>
                <a:gridCol w="2231136"/>
              </a:tblGrid>
              <a:tr h="800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7F6F2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Line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7F6F2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Source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7F6F2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Status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7F6F2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Check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800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Store stock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Picked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On track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1"/>
                    </a:solidFill>
                  </a:tcPr>
                </a:tc>
              </a:tr>
              <a:tr h="800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Central warehouse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Not yet picked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Watch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  <a:tr h="800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Supplier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Confirmed for Thursday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14213D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At risk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3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219200" y="6772275"/>
            <a:ext cx="933450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1950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Each line comes from a different system. Only the joined timeline shows the conflict.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010900" y="2857500"/>
            <a:ext cx="6057900" cy="5905500"/>
            <a:chOff x="0" y="0"/>
            <a:chExt cx="8077200" cy="7874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077200" cy="7874000"/>
            </a:xfrm>
            <a:custGeom>
              <a:avLst/>
              <a:gdLst/>
              <a:ahLst/>
              <a:cxnLst/>
              <a:rect r="r" b="b" t="t" l="l"/>
              <a:pathLst>
                <a:path h="7874000" w="8077200">
                  <a:moveTo>
                    <a:pt x="0" y="314960"/>
                  </a:moveTo>
                  <a:cubicBezTo>
                    <a:pt x="0" y="140970"/>
                    <a:pt x="140970" y="0"/>
                    <a:pt x="314960" y="0"/>
                  </a:cubicBezTo>
                  <a:lnTo>
                    <a:pt x="7762240" y="0"/>
                  </a:lnTo>
                  <a:cubicBezTo>
                    <a:pt x="7936230" y="0"/>
                    <a:pt x="8077200" y="140970"/>
                    <a:pt x="8077200" y="314960"/>
                  </a:cubicBezTo>
                  <a:lnTo>
                    <a:pt x="8077200" y="7559040"/>
                  </a:lnTo>
                  <a:cubicBezTo>
                    <a:pt x="8077200" y="7733030"/>
                    <a:pt x="7936230" y="7874000"/>
                    <a:pt x="7762240" y="7874000"/>
                  </a:cubicBezTo>
                  <a:lnTo>
                    <a:pt x="314960" y="7874000"/>
                  </a:lnTo>
                  <a:cubicBezTo>
                    <a:pt x="140970" y="7874000"/>
                    <a:pt x="0" y="7733030"/>
                    <a:pt x="0" y="7559040"/>
                  </a:cubicBezTo>
                  <a:close/>
                </a:path>
              </a:pathLst>
            </a:custGeom>
            <a:solidFill>
              <a:srgbClr val="14213D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391900" y="3171825"/>
            <a:ext cx="52959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b="true">
                <a:solidFill>
                  <a:srgbClr val="F0A35E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What the layer does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391900" y="3705225"/>
            <a:ext cx="5295900" cy="467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8"/>
              </a:lnSpc>
            </a:pPr>
            <a:r>
              <a:rPr lang="en-US" sz="2100" b="true">
                <a:solidFill>
                  <a:srgbClr val="F0A35E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1.  </a:t>
            </a:r>
            <a:r>
              <a:rPr lang="en-US" sz="2100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Opens an exception for the store: “Line C late by one day”.</a:t>
            </a:r>
          </a:p>
          <a:p>
            <a:pPr algn="l">
              <a:lnSpc>
                <a:spcPts val="3528"/>
              </a:lnSpc>
            </a:pPr>
            <a:r>
              <a:rPr lang="en-US" sz="2100" b="true">
                <a:solidFill>
                  <a:srgbClr val="F0A35E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2.  </a:t>
            </a:r>
            <a:r>
              <a:rPr lang="en-US" sz="2100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Suggests a fix: deliver A and B on Wednesday, C on Thursday.</a:t>
            </a:r>
          </a:p>
          <a:p>
            <a:pPr algn="l">
              <a:lnSpc>
                <a:spcPts val="3528"/>
              </a:lnSpc>
            </a:pPr>
            <a:r>
              <a:rPr lang="en-US" sz="2100" b="true">
                <a:solidFill>
                  <a:srgbClr val="F0A35E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3.  </a:t>
            </a:r>
            <a:r>
              <a:rPr lang="en-US" sz="2100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Informs the customer early, in their own language.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9200" y="9391650"/>
            <a:ext cx="142875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sz="1650">
                <a:solidFill>
                  <a:srgbClr val="6B7280"/>
                </a:solidFill>
                <a:latin typeface="IBM Plex Sans"/>
                <a:ea typeface="IBM Plex Sans"/>
                <a:cs typeface="IBM Plex Sans"/>
                <a:sym typeface="IBM Plex Sans"/>
              </a:rPr>
              <a:t>Team Old Men · Company A · Round 1 proposal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116300" y="9391650"/>
            <a:ext cx="9525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74"/>
              </a:lnSpc>
            </a:pPr>
            <a:r>
              <a:rPr lang="en-US" sz="1650">
                <a:solidFill>
                  <a:srgbClr val="6B7280"/>
                </a:solidFill>
                <a:latin typeface="IBM Plex Sans"/>
                <a:ea typeface="IBM Plex Sans"/>
                <a:cs typeface="IBM Plex Sans"/>
                <a:sym typeface="IBM Plex San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923925"/>
            <a:ext cx="1584960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b="true">
                <a:solidFill>
                  <a:srgbClr val="B8520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OPTIONS WE CONSIDERED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371600"/>
            <a:ext cx="1584960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500" b="true">
                <a:solidFill>
                  <a:srgbClr val="14213D"/>
                </a:solidFill>
                <a:latin typeface="Georgia Bold"/>
                <a:ea typeface="Georgia Bold"/>
                <a:cs typeface="Georgia Bold"/>
                <a:sym typeface="Georgia Bold"/>
              </a:rPr>
              <a:t>Why a control layer, not a bigger change first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219200" y="2857500"/>
          <a:ext cx="15830550" cy="5486400"/>
        </p:xfrm>
        <a:graphic>
          <a:graphicData uri="http://schemas.openxmlformats.org/drawingml/2006/table">
            <a:tbl>
              <a:tblPr/>
              <a:tblGrid>
                <a:gridCol w="4749165"/>
                <a:gridCol w="11081385"/>
              </a:tblGrid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7F6F2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Option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7F6F2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Why it is weaker as a first step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Replace all systems with one platform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Takes years and carries high risk; conflicts with “time to market is critical”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1"/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Direct integrations between systems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Integrations multiply with every system and country; still no single view of an order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Data warehouse with daily reports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Shows problems after they happen; no task for staff and no update for the customer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1"/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Full order management system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Must write into every country’s systems and change processes all at once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Read-only control layer (our choice)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14213D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Fast, low risk, actionable, reusable through adapters, and can grow into an OMS later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3"/>
                    </a:solidFill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219200" y="9391650"/>
            <a:ext cx="142875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sz="1650">
                <a:solidFill>
                  <a:srgbClr val="6B7280"/>
                </a:solidFill>
                <a:latin typeface="IBM Plex Sans"/>
                <a:ea typeface="IBM Plex Sans"/>
                <a:cs typeface="IBM Plex Sans"/>
                <a:sym typeface="IBM Plex Sans"/>
              </a:rPr>
              <a:t>Team Old Men · Company A · Round 1 proposal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116300" y="9391650"/>
            <a:ext cx="9525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74"/>
              </a:lnSpc>
            </a:pPr>
            <a:r>
              <a:rPr lang="en-US" sz="1650">
                <a:solidFill>
                  <a:srgbClr val="6B7280"/>
                </a:solidFill>
                <a:latin typeface="IBM Plex Sans"/>
                <a:ea typeface="IBM Plex Sans"/>
                <a:cs typeface="IBM Plex Sans"/>
                <a:sym typeface="IBM Plex San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ECE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923925"/>
            <a:ext cx="1584960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b="true">
                <a:solidFill>
                  <a:srgbClr val="B8520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WHERE AI CREATES VALUE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371600"/>
            <a:ext cx="1584960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500" b="true">
                <a:solidFill>
                  <a:srgbClr val="14213D"/>
                </a:solidFill>
                <a:latin typeface="Georgia Bold"/>
                <a:ea typeface="Georgia Bold"/>
                <a:cs typeface="Georgia Bold"/>
                <a:sym typeface="Georgia Bold"/>
              </a:rPr>
              <a:t>AI only where simple rules fall short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219200" y="2857500"/>
          <a:ext cx="15811500" cy="4381500"/>
        </p:xfrm>
        <a:graphic>
          <a:graphicData uri="http://schemas.openxmlformats.org/drawingml/2006/table">
            <a:tbl>
              <a:tblPr/>
              <a:tblGrid>
                <a:gridCol w="4269105"/>
                <a:gridCol w="8696325"/>
                <a:gridCol w="2846070"/>
              </a:tblGrid>
              <a:tr h="8763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7F6F2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AI use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7F6F2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Why rules alone are not enough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7F6F2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Phase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8763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Adapter mapping assistant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Mapping each country’s data is the slowest part of every rollout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MVP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  <a:tr h="8763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Multilingual customer messages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Every delay mixes different reasons and parts; templates cannot cover them all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MVP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8763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Delay-risk prediction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Finds suppliers or stores that are often late even when status looks fine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After pilot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  <a:tr h="8763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Suggested fix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Weighs stock, distance and customer priority across many options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Later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219200" y="7629525"/>
            <a:ext cx="158496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8"/>
              </a:lnSpc>
            </a:pPr>
            <a:r>
              <a:rPr lang="en-US" sz="2100">
                <a:solidFill>
                  <a:srgbClr val="14213D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MVP works without AI. AI shortens time to market and improves the result, but the core value never depends on it.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9200" y="9391650"/>
            <a:ext cx="142875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sz="1650">
                <a:solidFill>
                  <a:srgbClr val="6B7280"/>
                </a:solidFill>
                <a:latin typeface="IBM Plex Sans"/>
                <a:ea typeface="IBM Plex Sans"/>
                <a:cs typeface="IBM Plex Sans"/>
                <a:sym typeface="IBM Plex Sans"/>
              </a:rPr>
              <a:t>Team Old Men · Company A · Round 1 proposal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16300" y="9391650"/>
            <a:ext cx="9525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74"/>
              </a:lnSpc>
            </a:pPr>
            <a:r>
              <a:rPr lang="en-US" sz="1650">
                <a:solidFill>
                  <a:srgbClr val="6B7280"/>
                </a:solidFill>
                <a:latin typeface="IBM Plex Sans"/>
                <a:ea typeface="IBM Plex Sans"/>
                <a:cs typeface="IBM Plex Sans"/>
                <a:sym typeface="IBM Plex San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923925"/>
            <a:ext cx="1584960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b="true">
                <a:solidFill>
                  <a:srgbClr val="B8520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MVP SCOPE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371600"/>
            <a:ext cx="1584960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500" b="true">
                <a:solidFill>
                  <a:srgbClr val="14213D"/>
                </a:solidFill>
                <a:latin typeface="Georgia Bold"/>
                <a:ea typeface="Georgia Bold"/>
                <a:cs typeface="Georgia Bold"/>
                <a:sym typeface="Georgia Bold"/>
              </a:rPr>
              <a:t>One market, read-only, about 12 weeks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19200" y="2762250"/>
            <a:ext cx="7772400" cy="4000500"/>
            <a:chOff x="0" y="0"/>
            <a:chExt cx="10363200" cy="5334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3632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1036320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lnTo>
                    <a:pt x="10149840" y="0"/>
                  </a:lnTo>
                  <a:cubicBezTo>
                    <a:pt x="10267696" y="0"/>
                    <a:pt x="10363200" y="95504"/>
                    <a:pt x="10363200" y="213360"/>
                  </a:cubicBezTo>
                  <a:lnTo>
                    <a:pt x="10363200" y="5120640"/>
                  </a:lnTo>
                  <a:cubicBezTo>
                    <a:pt x="10363200" y="5238496"/>
                    <a:pt x="10267696" y="5334000"/>
                    <a:pt x="10149840" y="5334000"/>
                  </a:cubicBezTo>
                  <a:lnTo>
                    <a:pt x="213360" y="5334000"/>
                  </a:lnTo>
                  <a:cubicBezTo>
                    <a:pt x="95504" y="5334000"/>
                    <a:pt x="0" y="5238496"/>
                    <a:pt x="0" y="5120640"/>
                  </a:cubicBezTo>
                  <a:close/>
                </a:path>
              </a:pathLst>
            </a:custGeom>
            <a:solidFill>
              <a:srgbClr val="14213D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00200" y="2962275"/>
            <a:ext cx="701040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2400" b="true">
                <a:solidFill>
                  <a:srgbClr val="F0A35E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 scope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00200" y="3533775"/>
            <a:ext cx="7010400" cy="311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2"/>
              </a:lnSpc>
            </a:pPr>
            <a:r>
              <a:rPr lang="en-US" sz="1950">
                <a:solidFill>
                  <a:srgbClr val="F0A35E"/>
                </a:solidFill>
                <a:latin typeface="IBM Plex Sans"/>
                <a:ea typeface="IBM Plex Sans"/>
                <a:cs typeface="IBM Plex Sans"/>
                <a:sym typeface="IBM Plex Sans"/>
              </a:rPr>
              <a:t>–  </a:t>
            </a:r>
            <a:r>
              <a:rPr lang="en-US" sz="1950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Sweden, a limited set of pilot stores</a:t>
            </a:r>
          </a:p>
          <a:p>
            <a:pPr algn="l">
              <a:lnSpc>
                <a:spcPts val="3042"/>
              </a:lnSpc>
            </a:pPr>
            <a:r>
              <a:rPr lang="en-US" sz="1950">
                <a:solidFill>
                  <a:srgbClr val="F0A35E"/>
                </a:solidFill>
                <a:latin typeface="IBM Plex Sans"/>
                <a:ea typeface="IBM Plex Sans"/>
                <a:cs typeface="IBM Plex Sans"/>
                <a:sym typeface="IBM Plex Sans"/>
              </a:rPr>
              <a:t>–  </a:t>
            </a:r>
            <a:r>
              <a:rPr lang="en-US" sz="1950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One adapter: order, stock, purchasing, transport</a:t>
            </a:r>
          </a:p>
          <a:p>
            <a:pPr algn="l">
              <a:lnSpc>
                <a:spcPts val="3042"/>
              </a:lnSpc>
            </a:pPr>
            <a:r>
              <a:rPr lang="en-US" sz="1950">
                <a:solidFill>
                  <a:srgbClr val="F0A35E"/>
                </a:solidFill>
                <a:latin typeface="IBM Plex Sans"/>
                <a:ea typeface="IBM Plex Sans"/>
                <a:cs typeface="IBM Plex Sans"/>
                <a:sym typeface="IBM Plex Sans"/>
              </a:rPr>
              <a:t>–  </a:t>
            </a:r>
            <a:r>
              <a:rPr lang="en-US" sz="1950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Common order model and rule-based risk check</a:t>
            </a:r>
          </a:p>
          <a:p>
            <a:pPr algn="l">
              <a:lnSpc>
                <a:spcPts val="3042"/>
              </a:lnSpc>
            </a:pPr>
            <a:r>
              <a:rPr lang="en-US" sz="1950">
                <a:solidFill>
                  <a:srgbClr val="F0A35E"/>
                </a:solidFill>
                <a:latin typeface="IBM Plex Sans"/>
                <a:ea typeface="IBM Plex Sans"/>
                <a:cs typeface="IBM Plex Sans"/>
                <a:sym typeface="IBM Plex Sans"/>
              </a:rPr>
              <a:t>–  </a:t>
            </a:r>
            <a:r>
              <a:rPr lang="en-US" sz="1950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Exception queue and order lookup for staff</a:t>
            </a:r>
          </a:p>
          <a:p>
            <a:pPr algn="l">
              <a:lnSpc>
                <a:spcPts val="3042"/>
              </a:lnSpc>
            </a:pPr>
            <a:r>
              <a:rPr lang="en-US" sz="1950">
                <a:solidFill>
                  <a:srgbClr val="F0A35E"/>
                </a:solidFill>
                <a:latin typeface="IBM Plex Sans"/>
                <a:ea typeface="IBM Plex Sans"/>
                <a:cs typeface="IBM Plex Sans"/>
                <a:sym typeface="IBM Plex Sans"/>
              </a:rPr>
              <a:t>–  </a:t>
            </a:r>
            <a:r>
              <a:rPr lang="en-US" sz="1950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Delay notifications on one customer channel</a:t>
            </a:r>
          </a:p>
          <a:p>
            <a:pPr algn="l">
              <a:lnSpc>
                <a:spcPts val="3042"/>
              </a:lnSpc>
            </a:pPr>
            <a:r>
              <a:rPr lang="en-US" sz="1950">
                <a:solidFill>
                  <a:srgbClr val="F0A35E"/>
                </a:solidFill>
                <a:latin typeface="IBM Plex Sans"/>
                <a:ea typeface="IBM Plex Sans"/>
                <a:cs typeface="IBM Plex Sans"/>
                <a:sym typeface="IBM Plex Sans"/>
              </a:rPr>
              <a:t>–  </a:t>
            </a:r>
            <a:r>
              <a:rPr lang="en-US" sz="1950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AI: mapping assistant and message texts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296400" y="2762250"/>
            <a:ext cx="7772400" cy="4000500"/>
            <a:chOff x="0" y="0"/>
            <a:chExt cx="10363200" cy="5334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3632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1036320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lnTo>
                    <a:pt x="10149840" y="0"/>
                  </a:lnTo>
                  <a:cubicBezTo>
                    <a:pt x="10267696" y="0"/>
                    <a:pt x="10363200" y="95504"/>
                    <a:pt x="10363200" y="213360"/>
                  </a:cubicBezTo>
                  <a:lnTo>
                    <a:pt x="10363200" y="5120640"/>
                  </a:lnTo>
                  <a:cubicBezTo>
                    <a:pt x="10363200" y="5238496"/>
                    <a:pt x="10267696" y="5334000"/>
                    <a:pt x="10149840" y="5334000"/>
                  </a:cubicBezTo>
                  <a:lnTo>
                    <a:pt x="213360" y="5334000"/>
                  </a:lnTo>
                  <a:cubicBezTo>
                    <a:pt x="95504" y="5334000"/>
                    <a:pt x="0" y="5238496"/>
                    <a:pt x="0" y="5120640"/>
                  </a:cubicBezTo>
                  <a:close/>
                </a:path>
              </a:pathLst>
            </a:custGeom>
            <a:solidFill>
              <a:srgbClr val="ECE9E1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677400" y="2962275"/>
            <a:ext cx="701040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2400" b="true">
                <a:solidFill>
                  <a:srgbClr val="4A5568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Out of scope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77400" y="3533775"/>
            <a:ext cx="7010400" cy="311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2"/>
              </a:lnSpc>
            </a:pPr>
            <a:r>
              <a:rPr lang="en-US" sz="1950">
                <a:solidFill>
                  <a:srgbClr val="B8520F"/>
                </a:solidFill>
                <a:latin typeface="IBM Plex Sans"/>
                <a:ea typeface="IBM Plex Sans"/>
                <a:cs typeface="IBM Plex Sans"/>
                <a:sym typeface="IBM Plex Sans"/>
              </a:rPr>
              <a:t>–  </a:t>
            </a:r>
            <a:r>
              <a:rPr lang="en-US" sz="1950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Writing back into existing systems</a:t>
            </a:r>
          </a:p>
          <a:p>
            <a:pPr algn="l">
              <a:lnSpc>
                <a:spcPts val="3042"/>
              </a:lnSpc>
            </a:pPr>
            <a:r>
              <a:rPr lang="en-US" sz="1950">
                <a:solidFill>
                  <a:srgbClr val="B8520F"/>
                </a:solidFill>
                <a:latin typeface="IBM Plex Sans"/>
                <a:ea typeface="IBM Plex Sans"/>
                <a:cs typeface="IBM Plex Sans"/>
                <a:sym typeface="IBM Plex Sans"/>
              </a:rPr>
              <a:t>–  </a:t>
            </a:r>
            <a:r>
              <a:rPr lang="en-US" sz="1950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Replacing any existing system</a:t>
            </a:r>
          </a:p>
          <a:p>
            <a:pPr algn="l">
              <a:lnSpc>
                <a:spcPts val="3042"/>
              </a:lnSpc>
            </a:pPr>
            <a:r>
              <a:rPr lang="en-US" sz="1950">
                <a:solidFill>
                  <a:srgbClr val="B8520F"/>
                </a:solidFill>
                <a:latin typeface="IBM Plex Sans"/>
                <a:ea typeface="IBM Plex Sans"/>
                <a:cs typeface="IBM Plex Sans"/>
                <a:sym typeface="IBM Plex Sans"/>
              </a:rPr>
              <a:t>–  </a:t>
            </a:r>
            <a:r>
              <a:rPr lang="en-US" sz="1950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All three markets at once</a:t>
            </a:r>
          </a:p>
          <a:p>
            <a:pPr algn="l">
              <a:lnSpc>
                <a:spcPts val="3042"/>
              </a:lnSpc>
            </a:pPr>
            <a:r>
              <a:rPr lang="en-US" sz="1950">
                <a:solidFill>
                  <a:srgbClr val="B8520F"/>
                </a:solidFill>
                <a:latin typeface="IBM Plex Sans"/>
                <a:ea typeface="IBM Plex Sans"/>
                <a:cs typeface="IBM Plex Sans"/>
                <a:sym typeface="IBM Plex Sans"/>
              </a:rPr>
              <a:t>–  </a:t>
            </a:r>
            <a:r>
              <a:rPr lang="en-US" sz="1950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Live driver tracking and route optimisation</a:t>
            </a:r>
          </a:p>
          <a:p>
            <a:pPr algn="l">
              <a:lnSpc>
                <a:spcPts val="3042"/>
              </a:lnSpc>
            </a:pPr>
            <a:r>
              <a:rPr lang="en-US" sz="1950">
                <a:solidFill>
                  <a:srgbClr val="B8520F"/>
                </a:solidFill>
                <a:latin typeface="IBM Plex Sans"/>
                <a:ea typeface="IBM Plex Sans"/>
                <a:cs typeface="IBM Plex Sans"/>
                <a:sym typeface="IBM Plex Sans"/>
              </a:rPr>
              <a:t>–  </a:t>
            </a:r>
            <a:r>
              <a:rPr lang="en-US" sz="1950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AI delay-risk prediction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9200" y="6943725"/>
            <a:ext cx="158496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b="true">
                <a:solidFill>
                  <a:srgbClr val="B8520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12-week plan (assumed)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09675" y="7419975"/>
            <a:ext cx="3867150" cy="1352550"/>
            <a:chOff x="0" y="0"/>
            <a:chExt cx="5156200" cy="1803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156200" cy="1803400"/>
            </a:xfrm>
            <a:custGeom>
              <a:avLst/>
              <a:gdLst/>
              <a:ahLst/>
              <a:cxnLst/>
              <a:rect r="r" b="b" t="t" l="l"/>
              <a:pathLst>
                <a:path h="1803400" w="5156200">
                  <a:moveTo>
                    <a:pt x="0" y="144272"/>
                  </a:moveTo>
                  <a:cubicBezTo>
                    <a:pt x="0" y="64643"/>
                    <a:pt x="64643" y="0"/>
                    <a:pt x="144272" y="0"/>
                  </a:cubicBezTo>
                  <a:lnTo>
                    <a:pt x="5011928" y="0"/>
                  </a:lnTo>
                  <a:cubicBezTo>
                    <a:pt x="5091557" y="0"/>
                    <a:pt x="5156200" y="64643"/>
                    <a:pt x="5156200" y="144272"/>
                  </a:cubicBezTo>
                  <a:lnTo>
                    <a:pt x="5156200" y="1659128"/>
                  </a:lnTo>
                  <a:cubicBezTo>
                    <a:pt x="5156200" y="1738757"/>
                    <a:pt x="5091557" y="1803400"/>
                    <a:pt x="5011928" y="1803400"/>
                  </a:cubicBezTo>
                  <a:lnTo>
                    <a:pt x="144272" y="1803400"/>
                  </a:lnTo>
                  <a:cubicBezTo>
                    <a:pt x="64643" y="1803400"/>
                    <a:pt x="0" y="1738757"/>
                    <a:pt x="0" y="1659128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10" r="0" b="-5710"/>
              </a:stretch>
            </a:blipFill>
            <a:ln w="19050" cap="sq">
              <a:solidFill>
                <a:srgbClr val="14213D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5156200" cy="186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700"/>
                </a:lnSpc>
              </a:pPr>
              <a:r>
                <a:rPr lang="en-US" sz="1800" b="true">
                  <a:solidFill>
                    <a:srgbClr val="B8520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Weeks 1–3</a:t>
              </a:r>
            </a:p>
            <a:p>
              <a:pPr algn="l">
                <a:lnSpc>
                  <a:spcPts val="2700"/>
                </a:lnSpc>
              </a:pPr>
              <a:r>
                <a:rPr lang="en-US" sz="1800">
                  <a:solidFill>
                    <a:srgbClr val="14213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Map Swedish data, measure the baseline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210175" y="7419975"/>
            <a:ext cx="3867150" cy="1352550"/>
            <a:chOff x="0" y="0"/>
            <a:chExt cx="5156200" cy="1803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156200" cy="1803400"/>
            </a:xfrm>
            <a:custGeom>
              <a:avLst/>
              <a:gdLst/>
              <a:ahLst/>
              <a:cxnLst/>
              <a:rect r="r" b="b" t="t" l="l"/>
              <a:pathLst>
                <a:path h="1803400" w="5156200">
                  <a:moveTo>
                    <a:pt x="0" y="144272"/>
                  </a:moveTo>
                  <a:cubicBezTo>
                    <a:pt x="0" y="64643"/>
                    <a:pt x="64643" y="0"/>
                    <a:pt x="144272" y="0"/>
                  </a:cubicBezTo>
                  <a:lnTo>
                    <a:pt x="5011928" y="0"/>
                  </a:lnTo>
                  <a:cubicBezTo>
                    <a:pt x="5091557" y="0"/>
                    <a:pt x="5156200" y="64643"/>
                    <a:pt x="5156200" y="144272"/>
                  </a:cubicBezTo>
                  <a:lnTo>
                    <a:pt x="5156200" y="1659128"/>
                  </a:lnTo>
                  <a:cubicBezTo>
                    <a:pt x="5156200" y="1738757"/>
                    <a:pt x="5091557" y="1803400"/>
                    <a:pt x="5011928" y="1803400"/>
                  </a:cubicBezTo>
                  <a:lnTo>
                    <a:pt x="144272" y="1803400"/>
                  </a:lnTo>
                  <a:cubicBezTo>
                    <a:pt x="64643" y="1803400"/>
                    <a:pt x="0" y="1738757"/>
                    <a:pt x="0" y="1659128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10" r="0" b="-5710"/>
              </a:stretch>
            </a:blipFill>
            <a:ln w="19050" cap="sq">
              <a:solidFill>
                <a:srgbClr val="14213D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5156200" cy="186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700"/>
                </a:lnSpc>
              </a:pPr>
              <a:r>
                <a:rPr lang="en-US" sz="1800" b="true">
                  <a:solidFill>
                    <a:srgbClr val="B8520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Weeks 4–7</a:t>
              </a:r>
            </a:p>
            <a:p>
              <a:pPr algn="l">
                <a:lnSpc>
                  <a:spcPts val="2700"/>
                </a:lnSpc>
              </a:pPr>
              <a:r>
                <a:rPr lang="en-US" sz="1800">
                  <a:solidFill>
                    <a:srgbClr val="14213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Adapter, order model and risk rules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210675" y="7419975"/>
            <a:ext cx="3867150" cy="1352550"/>
            <a:chOff x="0" y="0"/>
            <a:chExt cx="5156200" cy="1803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156200" cy="1803400"/>
            </a:xfrm>
            <a:custGeom>
              <a:avLst/>
              <a:gdLst/>
              <a:ahLst/>
              <a:cxnLst/>
              <a:rect r="r" b="b" t="t" l="l"/>
              <a:pathLst>
                <a:path h="1803400" w="5156200">
                  <a:moveTo>
                    <a:pt x="0" y="144272"/>
                  </a:moveTo>
                  <a:cubicBezTo>
                    <a:pt x="0" y="64643"/>
                    <a:pt x="64643" y="0"/>
                    <a:pt x="144272" y="0"/>
                  </a:cubicBezTo>
                  <a:lnTo>
                    <a:pt x="5011928" y="0"/>
                  </a:lnTo>
                  <a:cubicBezTo>
                    <a:pt x="5091557" y="0"/>
                    <a:pt x="5156200" y="64643"/>
                    <a:pt x="5156200" y="144272"/>
                  </a:cubicBezTo>
                  <a:lnTo>
                    <a:pt x="5156200" y="1659128"/>
                  </a:lnTo>
                  <a:cubicBezTo>
                    <a:pt x="5156200" y="1738757"/>
                    <a:pt x="5091557" y="1803400"/>
                    <a:pt x="5011928" y="1803400"/>
                  </a:cubicBezTo>
                  <a:lnTo>
                    <a:pt x="144272" y="1803400"/>
                  </a:lnTo>
                  <a:cubicBezTo>
                    <a:pt x="64643" y="1803400"/>
                    <a:pt x="0" y="1738757"/>
                    <a:pt x="0" y="1659128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10" r="0" b="-5710"/>
              </a:stretch>
            </a:blipFill>
            <a:ln w="19050" cap="sq">
              <a:solidFill>
                <a:srgbClr val="14213D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5156200" cy="186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700"/>
                </a:lnSpc>
              </a:pPr>
              <a:r>
                <a:rPr lang="en-US" sz="1800" b="true">
                  <a:solidFill>
                    <a:srgbClr val="B8520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Weeks 8–10</a:t>
              </a:r>
            </a:p>
            <a:p>
              <a:pPr algn="l">
                <a:lnSpc>
                  <a:spcPts val="2700"/>
                </a:lnSpc>
              </a:pPr>
              <a:r>
                <a:rPr lang="en-US" sz="1800">
                  <a:solidFill>
                    <a:srgbClr val="14213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Staff screens and alerts, test in 2 stores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211175" y="7419975"/>
            <a:ext cx="3867150" cy="1352550"/>
            <a:chOff x="0" y="0"/>
            <a:chExt cx="5156200" cy="1803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156200" cy="1803400"/>
            </a:xfrm>
            <a:custGeom>
              <a:avLst/>
              <a:gdLst/>
              <a:ahLst/>
              <a:cxnLst/>
              <a:rect r="r" b="b" t="t" l="l"/>
              <a:pathLst>
                <a:path h="1803400" w="5156200">
                  <a:moveTo>
                    <a:pt x="0" y="144272"/>
                  </a:moveTo>
                  <a:cubicBezTo>
                    <a:pt x="0" y="64643"/>
                    <a:pt x="64643" y="0"/>
                    <a:pt x="144272" y="0"/>
                  </a:cubicBezTo>
                  <a:lnTo>
                    <a:pt x="5011928" y="0"/>
                  </a:lnTo>
                  <a:cubicBezTo>
                    <a:pt x="5091557" y="0"/>
                    <a:pt x="5156200" y="64643"/>
                    <a:pt x="5156200" y="144272"/>
                  </a:cubicBezTo>
                  <a:lnTo>
                    <a:pt x="5156200" y="1659128"/>
                  </a:lnTo>
                  <a:cubicBezTo>
                    <a:pt x="5156200" y="1738757"/>
                    <a:pt x="5091557" y="1803400"/>
                    <a:pt x="5011928" y="1803400"/>
                  </a:cubicBezTo>
                  <a:lnTo>
                    <a:pt x="144272" y="1803400"/>
                  </a:lnTo>
                  <a:cubicBezTo>
                    <a:pt x="64643" y="1803400"/>
                    <a:pt x="0" y="1738757"/>
                    <a:pt x="0" y="1659128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10" r="0" b="-5710"/>
              </a:stretch>
            </a:blipFill>
            <a:ln w="19050" cap="sq">
              <a:solidFill>
                <a:srgbClr val="14213D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5156200" cy="186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700"/>
                </a:lnSpc>
              </a:pPr>
              <a:r>
                <a:rPr lang="en-US" sz="1800" b="true">
                  <a:solidFill>
                    <a:srgbClr val="B8520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Weeks 11–12</a:t>
              </a:r>
            </a:p>
            <a:p>
              <a:pPr algn="l">
                <a:lnSpc>
                  <a:spcPts val="2700"/>
                </a:lnSpc>
              </a:pPr>
              <a:r>
                <a:rPr lang="en-US" sz="1800">
                  <a:solidFill>
                    <a:srgbClr val="14213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Go live in pilot stores, compare with baseline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219200" y="9391650"/>
            <a:ext cx="142875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sz="1650">
                <a:solidFill>
                  <a:srgbClr val="6B7280"/>
                </a:solidFill>
                <a:latin typeface="IBM Plex Sans"/>
                <a:ea typeface="IBM Plex Sans"/>
                <a:cs typeface="IBM Plex Sans"/>
                <a:sym typeface="IBM Plex Sans"/>
              </a:rPr>
              <a:t>Team Old Men · Company A · Round 1 proposal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116300" y="9391650"/>
            <a:ext cx="9525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74"/>
              </a:lnSpc>
            </a:pPr>
            <a:r>
              <a:rPr lang="en-US" sz="1650">
                <a:solidFill>
                  <a:srgbClr val="6B7280"/>
                </a:solidFill>
                <a:latin typeface="IBM Plex Sans"/>
                <a:ea typeface="IBM Plex Sans"/>
                <a:cs typeface="IBM Plex Sans"/>
                <a:sym typeface="IBM Plex San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923925"/>
            <a:ext cx="1584960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b="true">
                <a:solidFill>
                  <a:srgbClr val="B8520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ROLLOUT ACROSS MARKETS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371600"/>
            <a:ext cx="1584960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500" b="true">
                <a:solidFill>
                  <a:srgbClr val="14213D"/>
                </a:solidFill>
                <a:latin typeface="Georgia Bold"/>
                <a:ea typeface="Georgia Bold"/>
                <a:cs typeface="Georgia Bold"/>
                <a:sym typeface="Georgia Bold"/>
              </a:rPr>
              <a:t>One core, adapted to each country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19200" y="2819400"/>
            <a:ext cx="5283203" cy="76200"/>
            <a:chOff x="0" y="0"/>
            <a:chExt cx="7044271" cy="10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044309" cy="101600"/>
            </a:xfrm>
            <a:custGeom>
              <a:avLst/>
              <a:gdLst/>
              <a:ahLst/>
              <a:cxnLst/>
              <a:rect r="r" b="b" t="t" l="l"/>
              <a:pathLst>
                <a:path h="101600" w="7044309">
                  <a:moveTo>
                    <a:pt x="0" y="0"/>
                  </a:moveTo>
                  <a:lnTo>
                    <a:pt x="7044309" y="0"/>
                  </a:lnTo>
                  <a:lnTo>
                    <a:pt x="7044309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B8520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19200" y="3019425"/>
            <a:ext cx="4826003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b="true">
                <a:solidFill>
                  <a:srgbClr val="B8520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Phase 1 · Pilot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9200" y="3371850"/>
            <a:ext cx="4826003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2700" b="true">
                <a:solidFill>
                  <a:srgbClr val="1421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Sweden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9200" y="3990975"/>
            <a:ext cx="4826003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1950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Prove impact where fulfilment matters most. Staff co-design the pilot.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502403" y="2819400"/>
            <a:ext cx="5283203" cy="76200"/>
            <a:chOff x="0" y="0"/>
            <a:chExt cx="7044271" cy="101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44309" cy="101600"/>
            </a:xfrm>
            <a:custGeom>
              <a:avLst/>
              <a:gdLst/>
              <a:ahLst/>
              <a:cxnLst/>
              <a:rect r="r" b="b" t="t" l="l"/>
              <a:pathLst>
                <a:path h="101600" w="7044309">
                  <a:moveTo>
                    <a:pt x="0" y="0"/>
                  </a:moveTo>
                  <a:lnTo>
                    <a:pt x="7044309" y="0"/>
                  </a:lnTo>
                  <a:lnTo>
                    <a:pt x="7044309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E3A878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502403" y="3019425"/>
            <a:ext cx="4826003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b="true">
                <a:solidFill>
                  <a:srgbClr val="B8520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Phase 2 · Expand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02403" y="3371850"/>
            <a:ext cx="4826003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2700" b="true">
                <a:solidFill>
                  <a:srgbClr val="1421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Denmark and Norway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02403" y="3990975"/>
            <a:ext cx="4826003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1950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New adapters and local rules. Denmark: less manual chasing. Norway: one way to handle exceptions.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785597" y="2819400"/>
            <a:ext cx="5283203" cy="76200"/>
            <a:chOff x="0" y="0"/>
            <a:chExt cx="7044271" cy="101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44309" cy="101600"/>
            </a:xfrm>
            <a:custGeom>
              <a:avLst/>
              <a:gdLst/>
              <a:ahLst/>
              <a:cxnLst/>
              <a:rect r="r" b="b" t="t" l="l"/>
              <a:pathLst>
                <a:path h="101600" w="7044309">
                  <a:moveTo>
                    <a:pt x="0" y="0"/>
                  </a:moveTo>
                  <a:lnTo>
                    <a:pt x="7044309" y="0"/>
                  </a:lnTo>
                  <a:lnTo>
                    <a:pt x="7044309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14213D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1785597" y="3019425"/>
            <a:ext cx="4826003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b="true">
                <a:solidFill>
                  <a:srgbClr val="B8520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Phase 3 · Extend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785597" y="3371850"/>
            <a:ext cx="4826003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2700" b="true">
                <a:solidFill>
                  <a:srgbClr val="1421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All markets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785597" y="3990975"/>
            <a:ext cx="4826003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1950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AI risk prediction, suggested fixes and write-back into existing systems.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19200" y="5838825"/>
            <a:ext cx="158496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b="true">
                <a:solidFill>
                  <a:srgbClr val="B8520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Key risks and how we handle them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19200" y="6362700"/>
            <a:ext cx="5130803" cy="2400300"/>
            <a:chOff x="0" y="0"/>
            <a:chExt cx="6841071" cy="3200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41109" cy="3200400"/>
            </a:xfrm>
            <a:custGeom>
              <a:avLst/>
              <a:gdLst/>
              <a:ahLst/>
              <a:cxnLst/>
              <a:rect r="r" b="b" t="t" l="l"/>
              <a:pathLst>
                <a:path h="3200400" w="6841109">
                  <a:moveTo>
                    <a:pt x="0" y="192024"/>
                  </a:moveTo>
                  <a:cubicBezTo>
                    <a:pt x="0" y="85979"/>
                    <a:pt x="85979" y="0"/>
                    <a:pt x="192024" y="0"/>
                  </a:cubicBezTo>
                  <a:lnTo>
                    <a:pt x="6649085" y="0"/>
                  </a:lnTo>
                  <a:cubicBezTo>
                    <a:pt x="6755130" y="0"/>
                    <a:pt x="6841109" y="85979"/>
                    <a:pt x="6841109" y="192024"/>
                  </a:cubicBezTo>
                  <a:lnTo>
                    <a:pt x="6841109" y="3008376"/>
                  </a:lnTo>
                  <a:cubicBezTo>
                    <a:pt x="6841109" y="3114421"/>
                    <a:pt x="6755130" y="3200400"/>
                    <a:pt x="6649085" y="3200400"/>
                  </a:cubicBezTo>
                  <a:lnTo>
                    <a:pt x="192024" y="3200400"/>
                  </a:lnTo>
                  <a:cubicBezTo>
                    <a:pt x="85979" y="3200400"/>
                    <a:pt x="0" y="3114421"/>
                    <a:pt x="0" y="3008376"/>
                  </a:cubicBezTo>
                  <a:close/>
                </a:path>
              </a:pathLst>
            </a:custGeom>
            <a:solidFill>
              <a:srgbClr val="ECE9E1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0"/>
              <a:ext cx="6841071" cy="329565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402"/>
                </a:lnSpc>
              </a:pPr>
              <a:r>
                <a:rPr lang="en-US" sz="2100" b="true">
                  <a:solidFill>
                    <a:srgbClr val="14213D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Poor or inconsistent data</a:t>
              </a:r>
            </a:p>
            <a:p>
              <a:pPr algn="l">
                <a:lnSpc>
                  <a:spcPts val="2916"/>
                </a:lnSpc>
              </a:pPr>
              <a:r>
                <a:rPr lang="en-US" sz="1800">
                  <a:solidFill>
                    <a:srgbClr val="4A556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Data checks in each adapter; the pilot validates the order model before rollout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578603" y="6362700"/>
            <a:ext cx="5130803" cy="2400300"/>
            <a:chOff x="0" y="0"/>
            <a:chExt cx="6841071" cy="3200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841109" cy="3200400"/>
            </a:xfrm>
            <a:custGeom>
              <a:avLst/>
              <a:gdLst/>
              <a:ahLst/>
              <a:cxnLst/>
              <a:rect r="r" b="b" t="t" l="l"/>
              <a:pathLst>
                <a:path h="3200400" w="6841109">
                  <a:moveTo>
                    <a:pt x="0" y="192024"/>
                  </a:moveTo>
                  <a:cubicBezTo>
                    <a:pt x="0" y="85979"/>
                    <a:pt x="85979" y="0"/>
                    <a:pt x="192024" y="0"/>
                  </a:cubicBezTo>
                  <a:lnTo>
                    <a:pt x="6649085" y="0"/>
                  </a:lnTo>
                  <a:cubicBezTo>
                    <a:pt x="6755130" y="0"/>
                    <a:pt x="6841109" y="85979"/>
                    <a:pt x="6841109" y="192024"/>
                  </a:cubicBezTo>
                  <a:lnTo>
                    <a:pt x="6841109" y="3008376"/>
                  </a:lnTo>
                  <a:cubicBezTo>
                    <a:pt x="6841109" y="3114421"/>
                    <a:pt x="6755130" y="3200400"/>
                    <a:pt x="6649085" y="3200400"/>
                  </a:cubicBezTo>
                  <a:lnTo>
                    <a:pt x="192024" y="3200400"/>
                  </a:lnTo>
                  <a:cubicBezTo>
                    <a:pt x="85979" y="3200400"/>
                    <a:pt x="0" y="3114421"/>
                    <a:pt x="0" y="3008376"/>
                  </a:cubicBezTo>
                  <a:close/>
                </a:path>
              </a:pathLst>
            </a:custGeom>
            <a:solidFill>
              <a:srgbClr val="ECE9E1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0"/>
              <a:ext cx="6841071" cy="329565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402"/>
                </a:lnSpc>
              </a:pPr>
              <a:r>
                <a:rPr lang="en-US" sz="2100" b="true">
                  <a:solidFill>
                    <a:srgbClr val="14213D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Old systems without APIs</a:t>
              </a:r>
            </a:p>
            <a:p>
              <a:pPr algn="l">
                <a:lnSpc>
                  <a:spcPts val="2916"/>
                </a:lnSpc>
              </a:pPr>
              <a:r>
                <a:rPr lang="en-US" sz="1800">
                  <a:solidFill>
                    <a:srgbClr val="4A556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Scheduled file exports instead; data becomes hourly, still far better than today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937997" y="6362700"/>
            <a:ext cx="5130803" cy="2400300"/>
            <a:chOff x="0" y="0"/>
            <a:chExt cx="6841071" cy="3200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841109" cy="3200400"/>
            </a:xfrm>
            <a:custGeom>
              <a:avLst/>
              <a:gdLst/>
              <a:ahLst/>
              <a:cxnLst/>
              <a:rect r="r" b="b" t="t" l="l"/>
              <a:pathLst>
                <a:path h="3200400" w="6841109">
                  <a:moveTo>
                    <a:pt x="0" y="192024"/>
                  </a:moveTo>
                  <a:cubicBezTo>
                    <a:pt x="0" y="85979"/>
                    <a:pt x="85979" y="0"/>
                    <a:pt x="192024" y="0"/>
                  </a:cubicBezTo>
                  <a:lnTo>
                    <a:pt x="6649085" y="0"/>
                  </a:lnTo>
                  <a:cubicBezTo>
                    <a:pt x="6755130" y="0"/>
                    <a:pt x="6841109" y="85979"/>
                    <a:pt x="6841109" y="192024"/>
                  </a:cubicBezTo>
                  <a:lnTo>
                    <a:pt x="6841109" y="3008376"/>
                  </a:lnTo>
                  <a:cubicBezTo>
                    <a:pt x="6841109" y="3114421"/>
                    <a:pt x="6755130" y="3200400"/>
                    <a:pt x="6649085" y="3200400"/>
                  </a:cubicBezTo>
                  <a:lnTo>
                    <a:pt x="192024" y="3200400"/>
                  </a:lnTo>
                  <a:cubicBezTo>
                    <a:pt x="85979" y="3200400"/>
                    <a:pt x="0" y="3114421"/>
                    <a:pt x="0" y="3008376"/>
                  </a:cubicBezTo>
                  <a:close/>
                </a:path>
              </a:pathLst>
            </a:custGeom>
            <a:solidFill>
              <a:srgbClr val="ECE9E1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0"/>
              <a:ext cx="6841071" cy="329565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402"/>
                </a:lnSpc>
              </a:pPr>
              <a:r>
                <a:rPr lang="en-US" sz="2100" b="true">
                  <a:solidFill>
                    <a:srgbClr val="14213D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Staff do not adopt it</a:t>
              </a:r>
            </a:p>
            <a:p>
              <a:pPr algn="l">
                <a:lnSpc>
                  <a:spcPts val="2916"/>
                </a:lnSpc>
              </a:pPr>
              <a:r>
                <a:rPr lang="en-US" sz="1800">
                  <a:solidFill>
                    <a:srgbClr val="4A556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No extra data entry, staff co-design the pilot, rollout goes store by store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219200" y="9391650"/>
            <a:ext cx="142875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sz="1650">
                <a:solidFill>
                  <a:srgbClr val="6B7280"/>
                </a:solidFill>
                <a:latin typeface="IBM Plex Sans"/>
                <a:ea typeface="IBM Plex Sans"/>
                <a:cs typeface="IBM Plex Sans"/>
                <a:sym typeface="IBM Plex Sans"/>
              </a:rPr>
              <a:t>Team Old Men · Company A · Round 1 proposal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116300" y="9391650"/>
            <a:ext cx="9525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74"/>
              </a:lnSpc>
            </a:pPr>
            <a:r>
              <a:rPr lang="en-US" sz="1650">
                <a:solidFill>
                  <a:srgbClr val="6B7280"/>
                </a:solidFill>
                <a:latin typeface="IBM Plex Sans"/>
                <a:ea typeface="IBM Plex Sans"/>
                <a:cs typeface="IBM Plex Sans"/>
                <a:sym typeface="IBM Plex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923925"/>
            <a:ext cx="1584960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b="true">
                <a:solidFill>
                  <a:srgbClr val="F0A35E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MEASURABLE BUSINESS IMPACT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371600"/>
            <a:ext cx="1584960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500" b="true">
                <a:solidFill>
                  <a:srgbClr val="F7F6F2"/>
                </a:solidFill>
                <a:latin typeface="Georgia Bold"/>
                <a:ea typeface="Georgia Bold"/>
                <a:cs typeface="Georgia Bold"/>
                <a:sym typeface="Georgia Bold"/>
              </a:rPr>
              <a:t>What the Sweden pilot could deliver in one year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19200" y="2762250"/>
            <a:ext cx="7772400" cy="2571750"/>
            <a:chOff x="0" y="0"/>
            <a:chExt cx="10363200" cy="3429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363200" cy="3429000"/>
            </a:xfrm>
            <a:custGeom>
              <a:avLst/>
              <a:gdLst/>
              <a:ahLst/>
              <a:cxnLst/>
              <a:rect r="r" b="b" t="t" l="l"/>
              <a:pathLst>
                <a:path h="3429000" w="10363200">
                  <a:moveTo>
                    <a:pt x="0" y="171450"/>
                  </a:moveTo>
                  <a:cubicBezTo>
                    <a:pt x="0" y="76708"/>
                    <a:pt x="76708" y="0"/>
                    <a:pt x="171450" y="0"/>
                  </a:cubicBezTo>
                  <a:lnTo>
                    <a:pt x="10191750" y="0"/>
                  </a:lnTo>
                  <a:cubicBezTo>
                    <a:pt x="10286492" y="0"/>
                    <a:pt x="10363200" y="76708"/>
                    <a:pt x="10363200" y="171450"/>
                  </a:cubicBezTo>
                  <a:lnTo>
                    <a:pt x="10363200" y="3257550"/>
                  </a:lnTo>
                  <a:cubicBezTo>
                    <a:pt x="10363200" y="3352292"/>
                    <a:pt x="10286492" y="3429000"/>
                    <a:pt x="10191750" y="3429000"/>
                  </a:cubicBezTo>
                  <a:lnTo>
                    <a:pt x="171450" y="3429000"/>
                  </a:lnTo>
                  <a:cubicBezTo>
                    <a:pt x="76708" y="3429000"/>
                    <a:pt x="0" y="3352292"/>
                    <a:pt x="0" y="3257550"/>
                  </a:cubicBezTo>
                  <a:close/>
                </a:path>
              </a:pathLst>
            </a:custGeom>
            <a:solidFill>
              <a:srgbClr val="23345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00200" y="2714625"/>
            <a:ext cx="7010400" cy="140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32"/>
              </a:lnSpc>
            </a:pPr>
            <a:r>
              <a:rPr lang="en-US" sz="7200" b="true">
                <a:solidFill>
                  <a:srgbClr val="F0A35E"/>
                </a:solidFill>
                <a:latin typeface="Georgia Bold"/>
                <a:ea typeface="Georgia Bold"/>
                <a:cs typeface="Georgia Bold"/>
                <a:sym typeface="Georgia Bold"/>
              </a:rPr>
              <a:t>1,200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00200" y="4191000"/>
            <a:ext cx="701040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1950">
                <a:solidFill>
                  <a:srgbClr val="C9D1E0"/>
                </a:solidFill>
                <a:latin typeface="IBM Plex Sans"/>
                <a:ea typeface="IBM Plex Sans"/>
                <a:cs typeface="IBM Plex Sans"/>
                <a:sym typeface="IBM Plex Sans"/>
              </a:rPr>
              <a:t>fewer problem deliveries, about EUR 120,000 saved (30% of 4,000)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296400" y="2762250"/>
            <a:ext cx="7772400" cy="2571750"/>
            <a:chOff x="0" y="0"/>
            <a:chExt cx="10363200" cy="3429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363200" cy="3429000"/>
            </a:xfrm>
            <a:custGeom>
              <a:avLst/>
              <a:gdLst/>
              <a:ahLst/>
              <a:cxnLst/>
              <a:rect r="r" b="b" t="t" l="l"/>
              <a:pathLst>
                <a:path h="3429000" w="10363200">
                  <a:moveTo>
                    <a:pt x="0" y="171450"/>
                  </a:moveTo>
                  <a:cubicBezTo>
                    <a:pt x="0" y="76708"/>
                    <a:pt x="76708" y="0"/>
                    <a:pt x="171450" y="0"/>
                  </a:cubicBezTo>
                  <a:lnTo>
                    <a:pt x="10191750" y="0"/>
                  </a:lnTo>
                  <a:cubicBezTo>
                    <a:pt x="10286492" y="0"/>
                    <a:pt x="10363200" y="76708"/>
                    <a:pt x="10363200" y="171450"/>
                  </a:cubicBezTo>
                  <a:lnTo>
                    <a:pt x="10363200" y="3257550"/>
                  </a:lnTo>
                  <a:cubicBezTo>
                    <a:pt x="10363200" y="3352292"/>
                    <a:pt x="10286492" y="3429000"/>
                    <a:pt x="10191750" y="3429000"/>
                  </a:cubicBezTo>
                  <a:lnTo>
                    <a:pt x="171450" y="3429000"/>
                  </a:lnTo>
                  <a:cubicBezTo>
                    <a:pt x="76708" y="3429000"/>
                    <a:pt x="0" y="3352292"/>
                    <a:pt x="0" y="3257550"/>
                  </a:cubicBezTo>
                  <a:close/>
                </a:path>
              </a:pathLst>
            </a:custGeom>
            <a:solidFill>
              <a:srgbClr val="23345A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677400" y="2714625"/>
            <a:ext cx="7010400" cy="140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32"/>
              </a:lnSpc>
            </a:pPr>
            <a:r>
              <a:rPr lang="en-US" sz="7200" b="true">
                <a:solidFill>
                  <a:srgbClr val="F0A35E"/>
                </a:solidFill>
                <a:latin typeface="Georgia Bold"/>
                <a:ea typeface="Georgia Bold"/>
                <a:cs typeface="Georgia Bold"/>
                <a:sym typeface="Georgia Bold"/>
              </a:rPr>
              <a:t>400 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77400" y="4191000"/>
            <a:ext cx="701040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1950">
                <a:solidFill>
                  <a:srgbClr val="C9D1E0"/>
                </a:solidFill>
                <a:latin typeface="IBM Plex Sans"/>
                <a:ea typeface="IBM Plex Sans"/>
                <a:cs typeface="IBM Plex Sans"/>
                <a:sym typeface="IBM Plex Sans"/>
              </a:rPr>
              <a:t>employee time freed by halving “where is my order?” contacts</a:t>
            </a:r>
          </a:p>
        </p:txBody>
      </p: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1219200" y="5715000"/>
          <a:ext cx="15830550" cy="2819400"/>
        </p:xfrm>
        <a:graphic>
          <a:graphicData uri="http://schemas.openxmlformats.org/drawingml/2006/table">
            <a:tbl>
              <a:tblPr/>
              <a:tblGrid>
                <a:gridCol w="6648832"/>
                <a:gridCol w="4590859"/>
                <a:gridCol w="4590859"/>
              </a:tblGrid>
              <a:tr h="704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7F6F2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KPI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5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7F6F2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Baseline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5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7F6F2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Pilot target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5A"/>
                    </a:solidFill>
                  </a:tcPr>
                </a:tc>
              </a:tr>
              <a:tr h="704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On-time and complete delivery rate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90% (assumed)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93%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  <a:tr h="704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Delays flagged at least one day ahead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Measured in weeks 1–3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60% or more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1"/>
                    </a:solidFill>
                  </a:tcPr>
                </a:tc>
              </a:tr>
              <a:tr h="704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“Where is my order?” contacts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10,000 a year (assumed)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–50%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name="TextBox 13" id="13"/>
          <p:cNvSpPr txBox="true"/>
          <p:nvPr/>
        </p:nvSpPr>
        <p:spPr>
          <a:xfrm rot="0">
            <a:off x="1219200" y="9391650"/>
            <a:ext cx="142875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sz="1650">
                <a:solidFill>
                  <a:srgbClr val="C9D1E0"/>
                </a:solidFill>
                <a:latin typeface="IBM Plex Sans"/>
                <a:ea typeface="IBM Plex Sans"/>
                <a:cs typeface="IBM Plex Sans"/>
                <a:sym typeface="IBM Plex Sans"/>
              </a:rPr>
              <a:t>Assumed: 20 pilot stores, 40,000 deliveries a year, 10% problem rate, EUR 100 per problem delivery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116300" y="9391650"/>
            <a:ext cx="9525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74"/>
              </a:lnSpc>
            </a:pPr>
            <a:r>
              <a:rPr lang="en-US" sz="1650">
                <a:solidFill>
                  <a:srgbClr val="C9D1E0"/>
                </a:solidFill>
                <a:latin typeface="IBM Plex Sans"/>
                <a:ea typeface="IBM Plex Sans"/>
                <a:cs typeface="IBM Plex Sans"/>
                <a:sym typeface="IBM Plex San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DAHYsEgf5xE</dc:identifier>
  <dcterms:modified xsi:type="dcterms:W3CDTF">2011-08-01T06:04:30Z</dcterms:modified>
  <cp:revision>1</cp:revision>
  <dc:title>IT Consultant Challenge - Round 1 - Old Men</dc:title>
</cp:coreProperties>
</file>